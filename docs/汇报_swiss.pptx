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  <p:sldId id="261" r:id="rId9"/>
    <p:sldId id="262" r:id="rId10"/>
    <p:sldId id="263" r:id="rId11"/>
    <p:sldId id="264" r:id="rId12"/>
    <p:sldId id="265" r:id="rId13"/>
    <p:sldId id="266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0" userDrawn="1">
          <p15:clr>
            <a:srgbClr val="A4A3A4"/>
          </p15:clr>
        </p15:guide>
        <p15:guide id="2" pos="28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0"/>
        <p:guide pos="284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ree 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8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746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3238500"/>
            <a:ext cx="1143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53618" y="2393632"/>
            <a:ext cx="266204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spc="1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基于开源多模态大模型的</a:t>
            </a:r>
            <a:endParaRPr lang="zh-CN" sz="1650" spc="15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49046" y="2725102"/>
            <a:ext cx="4163273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图像质量评估 Agent 框架</a:t>
            </a:r>
            <a:endParaRPr lang="zh-CN" sz="25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56666" y="3458528"/>
            <a:ext cx="265088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7B8BA8"/>
                </a:solidFill>
                <a:latin typeface="+mn-lt"/>
                <a:ea typeface="+mn-ea"/>
                <a:cs typeface="+mn-cs"/>
              </a:rPr>
              <a:t>Unified Agent Framework for Blind IQA</a:t>
            </a:r>
            <a:endParaRPr lang="en-US" sz="1050" dirty="0">
              <a:solidFill>
                <a:srgbClr val="7B8BA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62127" y="4426268"/>
            <a:ext cx="152213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张丞 北京邮电大学</a:t>
            </a:r>
            <a:endParaRPr lang="zh-CN" sz="135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57047" y="4800124"/>
            <a:ext cx="1266190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57575"/>
                </a:solidFill>
                <a:latin typeface="+mn-lt"/>
                <a:ea typeface="+mn-ea"/>
                <a:cs typeface="+mn-cs"/>
              </a:rPr>
              <a:t>验收汇报　2026.07.29</a:t>
            </a:r>
            <a:endParaRPr lang="zh-CN" sz="980" dirty="0">
              <a:solidFill>
                <a:srgbClr val="75757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428286" y="6586538"/>
            <a:ext cx="29222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750" dirty="0">
                <a:solidFill>
                  <a:srgbClr val="C3C2B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 / 11</a:t>
            </a:r>
            <a:endParaRPr lang="en-US" sz="750" dirty="0">
              <a:solidFill>
                <a:srgbClr val="C3C2B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1142536" y="6567488"/>
            <a:ext cx="29222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750" dirty="0">
                <a:solidFill>
                  <a:srgbClr val="C3C2B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 / 11</a:t>
            </a:r>
            <a:endParaRPr lang="en-US" sz="750" dirty="0">
              <a:solidFill>
                <a:srgbClr val="C3C2B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57238" y="6567488"/>
            <a:ext cx="21145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A0A0A0"/>
                </a:solidFill>
                <a:latin typeface="+mn-lt"/>
                <a:ea typeface="+mn-ea"/>
                <a:cs typeface="+mn-cs"/>
              </a:rPr>
              <a:t>背景</a:t>
            </a:r>
            <a:endParaRPr lang="zh-CN" sz="750" dirty="0">
              <a:solidFill>
                <a:srgbClr val="A0A0A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46113" y="2201227"/>
            <a:ext cx="2270125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0" b="1" spc="225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我想做什么、有什么限制</a:t>
            </a:r>
            <a:endParaRPr lang="zh-CN" sz="1400" b="1" spc="225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42950" y="795655"/>
            <a:ext cx="1437475" cy="1733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0" b="1" dirty="0">
                <a:solidFill>
                  <a:schemeClr val="accent1">
                    <a:lumMod val="50000"/>
                    <a:lumOff val="50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lang="en-US" sz="9000" b="1" dirty="0">
              <a:solidFill>
                <a:schemeClr val="accent1">
                  <a:lumMod val="50000"/>
                  <a:lumOff val="50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3614420" y="795655"/>
            <a:ext cx="8171815" cy="5144770"/>
            <a:chOff x="3614356" y="795576"/>
            <a:chExt cx="10145216" cy="3849016"/>
          </a:xfrm>
        </p:grpSpPr>
        <p:sp>
          <p:nvSpPr>
            <p:cNvPr id="7" name="TextBox 7"/>
            <p:cNvSpPr txBox="1"/>
            <p:nvPr/>
          </p:nvSpPr>
          <p:spPr>
            <a:xfrm>
              <a:off x="3614356" y="795576"/>
              <a:ext cx="6900386" cy="4831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任务目标是</a:t>
              </a:r>
              <a:r>
                <a:rPr lang="zh-CN" altLang="en-US" sz="1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构建一套图像质量评估 </a:t>
              </a:r>
              <a:r>
                <a:rPr lang="en-US" altLang="zh-CN" sz="1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</a:t>
              </a:r>
              <a:r>
                <a:rPr lang="zh-CN" altLang="en-US" sz="1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框架。在不使用目标评测数据进行模型训练或微调的前提下，通过</a:t>
              </a:r>
              <a:r>
                <a:rPr lang="en-US" altLang="zh-CN" sz="1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Skill（Prompt）</a:t>
              </a:r>
              <a:r>
                <a:rPr lang="zh-CN" altLang="en-US" sz="1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充分挖掘开源多模态大模型自身的图像质量感知与评分能力。</a:t>
              </a:r>
              <a:endParaRPr lang="zh-CN" altLang="en-US" sz="1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20663" y="1473965"/>
              <a:ext cx="7236275" cy="276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用的是阿里开源的 Qwen3-VL-32B（API 调用）。每次调用温度设为零，结果做磁盘缓存——任何实验都能一键复现。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20663" y="1921639"/>
              <a:ext cx="10127872" cy="276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考卷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有两份：</a:t>
              </a:r>
              <a:r>
                <a:rPr lang="en-US" alt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KonIQ-10k </a:t>
              </a:r>
              <a:r>
                <a:rPr lang="zh-CN" alt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验证集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（1-5 分整数）和 </a:t>
              </a:r>
              <a:r>
                <a:rPr lang="en-US" alt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SPAQ </a:t>
              </a:r>
              <a:r>
                <a:rPr lang="zh-CN" alt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测试集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（0-10 分连续）。目标是排名越准越好（SRCC）、分数偏差越小越好（MAE）。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14356" y="2311629"/>
              <a:ext cx="1546705" cy="1610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三个硬性限制：</a:t>
              </a:r>
              <a:endParaRPr lang="zh-CN" sz="101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00525" y="2653012"/>
              <a:ext cx="3334701" cy="1377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alt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大模型本身不能训练</a:t>
              </a:r>
              <a:r>
                <a:rPr lang="en-US" alt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.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不能微调。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00525" y="2938771"/>
              <a:ext cx="7561020" cy="1377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alt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2.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数据集名称、图片编号、真人分数——这些信息绝对不能出现在给模型的任何输入里。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00525" y="3224531"/>
              <a:ext cx="5698948" cy="1377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alt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3.MOS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只能用于</a:t>
              </a:r>
              <a:r>
                <a:rPr lang="zh-CN" alt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离线性能评测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，中途不能用来调任何参数。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14356" y="3434088"/>
              <a:ext cx="9368695" cy="1377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这意味着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我要让一个完全没训练过的模型给图片打分，但它给的分跟真人的分的趋势以及分布尽量要符合。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20663" y="3652646"/>
              <a:ext cx="6291784" cy="3582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唯一的自由度：</a:t>
              </a:r>
              <a:r>
                <a:rPr lang="zh-CN" alt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允许对 </a:t>
              </a:r>
              <a:r>
                <a:rPr lang="en-US" alt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Router/Decision </a:t>
              </a:r>
              <a:r>
                <a:rPr lang="zh-CN" alt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层进行训练或提示优化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——决定问模型什么问题、多个专家的意见听谁的、怎么解释结果</a:t>
              </a:r>
              <a:r>
                <a:rPr lang="zh-CN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  <a:endParaRPr lang="zh-CN" sz="101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20663" y="4092086"/>
              <a:ext cx="10138909" cy="5525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路由器的训练信号从哪来？不能用人打分（</a:t>
              </a:r>
              <a:r>
                <a:rPr lang="en-US" alt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MOS)</a:t>
              </a:r>
              <a:r>
                <a:rPr lang="zh-CN" alt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数据。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于是我想到了利用合理方法，</a:t>
              </a:r>
              <a:r>
                <a:rPr lang="zh-CN" alt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充分挖掘开源多模态大模型自身的图像质量感知与评分能力。</a:t>
              </a:r>
              <a:br>
                <a:rPr lang="zh-CN" alt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有了后面的两两比较锦标赛。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2" name="Rectangle 22"/>
          <p:cNvSpPr/>
          <p:nvPr/>
        </p:nvSpPr>
        <p:spPr>
          <a:xfrm>
            <a:off x="3619500" y="5000625"/>
            <a:ext cx="7810500" cy="9525"/>
          </a:xfrm>
          <a:prstGeom prst="rect">
            <a:avLst/>
          </a:prstGeom>
          <a:solidFill>
            <a:srgbClr val="E1E0D9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1142536" y="6567488"/>
            <a:ext cx="29222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750" dirty="0">
                <a:solidFill>
                  <a:srgbClr val="C3C2B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 / 11</a:t>
            </a:r>
            <a:endParaRPr lang="en-US" sz="750" dirty="0">
              <a:solidFill>
                <a:srgbClr val="C3C2B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392998" y="832802"/>
            <a:ext cx="2889250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0" b="1" spc="225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我的方案：三路并行，门控融合</a:t>
            </a:r>
            <a:endParaRPr lang="zh-CN" sz="1400" b="1" spc="225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61365" y="267335"/>
            <a:ext cx="1271270" cy="13849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0" b="1" dirty="0">
                <a:solidFill>
                  <a:schemeClr val="accent1">
                    <a:lumMod val="50000"/>
                    <a:lumOff val="50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lang="en-US" sz="9000" b="1" dirty="0">
              <a:solidFill>
                <a:srgbClr val="F0F0E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697529" y="1775460"/>
            <a:ext cx="10923606" cy="4340226"/>
            <a:chOff x="690042" y="1775460"/>
            <a:chExt cx="12378576" cy="4340614"/>
          </a:xfrm>
        </p:grpSpPr>
        <p:sp>
          <p:nvSpPr>
            <p:cNvPr id="7" name="TextBox 7"/>
            <p:cNvSpPr txBox="1"/>
            <p:nvPr/>
          </p:nvSpPr>
          <p:spPr>
            <a:xfrm>
              <a:off x="755904" y="1775460"/>
              <a:ext cx="2217268" cy="1841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一张图进来，同时走三条路：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2143125"/>
              <a:ext cx="2667000" cy="361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7312" y="2275885"/>
              <a:ext cx="2201911" cy="1841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路一：三个专家各评一次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709988" y="2046363"/>
              <a:ext cx="7141210" cy="3689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技术质量（看噪点/模糊/压缩痕迹）、整体印象（普通人第一眼感觉）、内容完整性（主体有没有被裁）。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三个专家是同一个模型扮演的不同角色——换提示词但不换脑子。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720" y="2851806"/>
              <a:ext cx="2667000" cy="361950"/>
            </a:xfrm>
            <a:prstGeom prst="rect">
              <a:avLst/>
            </a:prstGeom>
            <a:solidFill>
              <a:srgbClr val="2E3F5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8032" y="2984608"/>
              <a:ext cx="2481108" cy="1841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路二：算七个像素特征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09988" y="2702334"/>
              <a:ext cx="5334000" cy="5537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调用工具用传统图像处理（OpenCV）提取：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画面锐不锐、噪声大不大、色彩丰不丰富、亮不亮、分辨率多大、长宽比多少。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最关键的一个：三个专家的评分分歧有多大——"分歧度"</a:t>
              </a:r>
              <a:r>
                <a:rPr lang="zh-CN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  <a:endParaRPr lang="zh-CN" sz="94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56243" y="3554136"/>
              <a:ext cx="2667000" cy="361950"/>
            </a:xfrm>
            <a:prstGeom prst="rect">
              <a:avLst/>
            </a:prstGeom>
            <a:solidFill>
              <a:srgbClr val="3F537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1555" y="3686981"/>
              <a:ext cx="2482547" cy="1841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路三：用四句话分别问一遍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09988" y="3543725"/>
              <a:ext cx="9358630" cy="1841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同一个意思换四种问法（"这图几分？""请给个总评分数"……），取平均。这路负责"零点校准"。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90042" y="4105314"/>
              <a:ext cx="10668000" cy="9525"/>
            </a:xfrm>
            <a:prstGeom prst="rect">
              <a:avLst/>
            </a:prstGeom>
            <a:solidFill>
              <a:srgbClr val="E1E0D9"/>
            </a:solidFill>
            <a:ln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6243" y="4288380"/>
              <a:ext cx="3458296" cy="1841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然后：门控矩阵决定听谁的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6243" y="4697992"/>
              <a:ext cx="6191257" cy="3689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路由器（唯一可训练的部件）根据那七个像素特征，算出三个专家各有多少话语权。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6963" y="5162219"/>
              <a:ext cx="5310492" cy="3689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三个专家分按话语权加权 = 融合分。融合分与四路投票按比例混合 = 最终分。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0" y="5715353"/>
              <a:ext cx="5124121" cy="4007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buClrTx/>
                <a:buSzTx/>
                <a:buFontTx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整个框架从 R1 一步步搭到 R6。中间臂（R4、R5）是验证性产物，最终收敛为同一个骨架.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23" name="Image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3385" y="3870960"/>
            <a:ext cx="5541010" cy="26079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1142536" y="6567488"/>
            <a:ext cx="29222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750" dirty="0">
                <a:solidFill>
                  <a:srgbClr val="C3C2B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 / 11</a:t>
            </a:r>
            <a:endParaRPr lang="en-US" sz="750" dirty="0">
              <a:solidFill>
                <a:srgbClr val="C3C2B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313623" y="818197"/>
            <a:ext cx="1238250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0" b="1" spc="225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两个关键技术</a:t>
            </a:r>
            <a:endParaRPr lang="zh-CN" sz="1400" b="1" spc="225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62000" y="268605"/>
            <a:ext cx="1271270" cy="13849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0" b="1" dirty="0">
                <a:solidFill>
                  <a:schemeClr val="accent1">
                    <a:lumMod val="50000"/>
                    <a:lumOff val="50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lang="en-US" sz="9000" b="1" dirty="0">
              <a:solidFill>
                <a:srgbClr val="F0F0E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762000" y="1857375"/>
            <a:ext cx="51435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47166" y="1953578"/>
            <a:ext cx="290830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技术一：让模型"比谁差"而不</a:t>
            </a:r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是"打多少分"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920433" y="2375297"/>
            <a:ext cx="5362575" cy="2056606"/>
            <a:chOff x="920433" y="2375297"/>
            <a:chExt cx="5362575" cy="2056606"/>
          </a:xfrm>
        </p:grpSpPr>
        <p:sp>
          <p:nvSpPr>
            <p:cNvPr id="9" name="TextBox 9"/>
            <p:cNvSpPr txBox="1"/>
            <p:nvPr/>
          </p:nvSpPr>
          <p:spPr>
            <a:xfrm>
              <a:off x="947738" y="2375297"/>
              <a:ext cx="380580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核心问题：路由器需要训练信号，但真人分数被禁止使用。怎么办？</a:t>
              </a:r>
              <a:endParaRPr lang="zh-CN" sz="94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7738" y="2708672"/>
              <a:ext cx="437568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发现：大模型直接打分很不稳定，但判断"A 和 B 哪张更差"却非常准。</a:t>
              </a:r>
              <a:endParaRPr lang="zh-CN" sz="94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7738" y="3042047"/>
              <a:ext cx="4954270" cy="4324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</a:t>
              </a:r>
              <a:r>
                <a:rPr lang="en-US" altLang="zh-CN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:</a:t>
              </a:r>
              <a:r>
                <a:rPr lang="zh-CN" sz="940" dirty="0">
                  <a:solidFill>
                    <a:schemeClr val="dk1"/>
                  </a:solidFill>
                  <a:sym typeface="+mn-ea"/>
                </a:rPr>
                <a:t>"A 比 B 好吗"是相对判断——比较的是两张图共有的感知维度，不需要映射到数字。认知科学里这叫比较判断定律（Thurstone 1927），比绝对评分稳定得多。</a:t>
              </a:r>
              <a:endParaRPr lang="zh-CN" sz="940" dirty="0">
                <a:solidFill>
                  <a:schemeClr val="dk1"/>
                </a:solidFill>
              </a:endParaRPr>
            </a:p>
            <a:p>
              <a:pPr algn="l"/>
              <a:endParaRPr lang="en-US" altLang="zh-CN" sz="94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0433" y="3541792"/>
              <a:ext cx="5362575" cy="288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做法：在两千五百张训练图上组织了</a:t>
              </a:r>
              <a:r>
                <a:rPr lang="zh-CN" sz="94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三万两千场</a:t>
              </a:r>
              <a:r>
                <a:rPr lang="zh-CN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两两比较，每场问模型谁更好。</a:t>
              </a:r>
              <a:endParaRPr lang="zh-CN" sz="94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altLang="en-US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 32,000 场两两对比胜负记录中，通过最大似然估计反推每张图的标量实力分——不依赖人工标签。</a:t>
              </a:r>
              <a:endParaRPr lang="zh-CN" altLang="en-US" sz="94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20433" y="4063762"/>
              <a:ext cx="444329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全部胜负记录用一个叫 Bradley-Terry 的数学模型拟合成每张图一个</a:t>
              </a:r>
              <a:r>
                <a:rPr lang="zh-CN" sz="94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强度分</a:t>
              </a:r>
              <a:r>
                <a:rPr lang="en-US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</a:t>
              </a:r>
              <a:endParaRPr lang="en-US" sz="94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7738" y="4248547"/>
              <a:ext cx="397031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赢得多 = 分高，赢得少 = 分低。这个分就成了训练路由器的监督信号。</a:t>
              </a:r>
              <a:endParaRPr lang="zh-CN" sz="94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17" name="Image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4672810"/>
            <a:ext cx="4572000" cy="1893880"/>
          </a:xfrm>
          <a:prstGeom prst="rect">
            <a:avLst/>
          </a:prstGeom>
        </p:spPr>
      </p:pic>
      <p:sp>
        <p:nvSpPr>
          <p:cNvPr id="18" name="Rectangle 18"/>
          <p:cNvSpPr/>
          <p:nvPr/>
        </p:nvSpPr>
        <p:spPr>
          <a:xfrm>
            <a:off x="6286500" y="1857375"/>
            <a:ext cx="51435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471666" y="1953578"/>
            <a:ext cx="222059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技术二：21 个参数决定"该信谁"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6472238" y="2375297"/>
            <a:ext cx="4723244" cy="944721"/>
            <a:chOff x="6472238" y="2375297"/>
            <a:chExt cx="4723244" cy="944721"/>
          </a:xfrm>
        </p:grpSpPr>
        <p:sp>
          <p:nvSpPr>
            <p:cNvPr id="20" name="TextBox 20"/>
            <p:cNvSpPr txBox="1"/>
            <p:nvPr/>
          </p:nvSpPr>
          <p:spPr>
            <a:xfrm>
              <a:off x="6472238" y="2375297"/>
              <a:ext cx="367926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有了每张图的强度分（谁好谁坏的共识），就可以训练路由器了。</a:t>
              </a:r>
              <a:endParaRPr lang="zh-CN" sz="94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72238" y="2623582"/>
              <a:ext cx="306553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路由器 = 一个 3 行 7 列的矩阵，只有 21 个可调数字。</a:t>
              </a:r>
              <a:endParaRPr lang="zh-CN" sz="94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72238" y="2880122"/>
              <a:ext cx="472324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输入：七个像素特征（清晰度、噪声、色彩、亮度、分辨率、宽高比、</a:t>
              </a:r>
              <a:r>
                <a:rPr lang="zh-CN" sz="94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专家分歧度</a:t>
              </a:r>
              <a:r>
                <a:rPr lang="zh-CN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）</a:t>
              </a:r>
              <a:endParaRPr lang="zh-CN" sz="94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72238" y="3136662"/>
              <a:ext cx="300858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输出：三个专家各占多少话语权（加起来等于 100%）</a:t>
              </a:r>
              <a:endParaRPr lang="zh-CN" sz="94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28" name="Imag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590" y="4810125"/>
            <a:ext cx="3967320" cy="180975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6105208" y="6626225"/>
            <a:ext cx="5324475" cy="1384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57575"/>
                </a:solidFill>
                <a:latin typeface="+mn-lt"/>
                <a:ea typeface="+mn-ea"/>
                <a:cs typeface="+mn-cs"/>
              </a:rPr>
              <a:t>分歧度一列权重最大——专家吵架时信技术专家。分辨率/宽高比自动归零（所有图尺寸一样，没信息）。</a:t>
            </a:r>
            <a:endParaRPr lang="zh-CN" sz="900" dirty="0">
              <a:solidFill>
                <a:srgbClr val="75757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395720" y="3334385"/>
            <a:ext cx="4064000" cy="379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940" dirty="0">
                <a:solidFill>
                  <a:schemeClr val="dk1"/>
                </a:solidFill>
              </a:rPr>
              <a:t>梯度下降的逻辑：每步抽 128 对图，如果融合分跟 BT 偏好不一致（好图反而得分低），就调 W。每次微调都在某个方向推一下参数。</a:t>
            </a:r>
            <a:endParaRPr lang="zh-CN" sz="940" dirty="0">
              <a:solidFill>
                <a:schemeClr val="dk1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395720" y="3731260"/>
            <a:ext cx="4064000" cy="8128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940" dirty="0">
                <a:solidFill>
                  <a:schemeClr val="dk1"/>
                </a:solidFill>
              </a:rPr>
              <a:t>因为 BT 偏好是一个有方向性的信号——统计学上存在"什么样的特征倾向于对应哪个专家更靠谱"的规律——梯度会持续把 W 往某个方向推。</a:t>
            </a:r>
            <a:endParaRPr lang="zh-CN" sz="940" dirty="0">
              <a:solidFill>
                <a:schemeClr val="dk1"/>
              </a:solidFill>
            </a:endParaRPr>
          </a:p>
          <a:p>
            <a:endParaRPr lang="zh-CN" sz="940" dirty="0">
              <a:solidFill>
                <a:schemeClr val="dk1"/>
              </a:solidFill>
            </a:endParaRPr>
          </a:p>
          <a:p>
            <a:r>
              <a:rPr lang="zh-CN" sz="940" dirty="0">
                <a:solidFill>
                  <a:schemeClr val="dk1"/>
                </a:solidFill>
              </a:rPr>
              <a:t>如果 BT 信号完全没有信息量（随机噪声），W 会在零附近震荡，‖W‖ 不会涨。‖W‖ 的单调上升本身就说明 BT 信号里存在稳定的规律。</a:t>
            </a:r>
            <a:endParaRPr lang="zh-CN" sz="940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1142536" y="6567488"/>
            <a:ext cx="29222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750" dirty="0">
                <a:solidFill>
                  <a:srgbClr val="C3C2B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 / 11</a:t>
            </a:r>
            <a:endParaRPr lang="en-US" sz="750" dirty="0">
              <a:solidFill>
                <a:srgbClr val="C3C2B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396808" y="823912"/>
            <a:ext cx="1651000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0" b="1" spc="225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评分在一步步变好</a:t>
            </a:r>
            <a:endParaRPr lang="zh-CN" sz="1400" b="1" spc="225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89940" y="276225"/>
            <a:ext cx="1271270" cy="13849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buClrTx/>
              <a:buSzTx/>
              <a:buFontTx/>
            </a:pPr>
            <a:r>
              <a:rPr lang="en-US" sz="9000" b="1" dirty="0">
                <a:solidFill>
                  <a:schemeClr val="accent1">
                    <a:lumMod val="50000"/>
                    <a:lumOff val="50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lang="en-US" sz="9000" b="1" dirty="0">
              <a:solidFill>
                <a:schemeClr val="accent1">
                  <a:lumMod val="50000"/>
                  <a:lumOff val="50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44" name="Group 44"/>
          <p:cNvGrpSpPr/>
          <p:nvPr/>
        </p:nvGrpSpPr>
        <p:grpSpPr>
          <a:xfrm>
            <a:off x="762000" y="1762125"/>
            <a:ext cx="6858000" cy="1428750"/>
            <a:chOff x="762000" y="1762125"/>
            <a:chExt cx="6858000" cy="1428750"/>
          </a:xfrm>
        </p:grpSpPr>
        <p:sp>
          <p:nvSpPr>
            <p:cNvPr id="7" name="Rectangle 7"/>
            <p:cNvSpPr/>
            <p:nvPr/>
          </p:nvSpPr>
          <p:spPr>
            <a:xfrm>
              <a:off x="762000" y="1762125"/>
              <a:ext cx="6858000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14128" y="1856661"/>
              <a:ext cx="21024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配置</a:t>
              </a:r>
              <a:endParaRPr lang="zh-CN" sz="71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75566" y="1856661"/>
              <a:ext cx="554368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1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KonIQ SRCC</a:t>
              </a:r>
              <a:endParaRPr lang="en-US" sz="71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32535" y="1856661"/>
              <a:ext cx="516931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1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KonIQ MAE</a:t>
              </a:r>
              <a:endParaRPr lang="en-US" sz="71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64690" y="1856661"/>
              <a:ext cx="529121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1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SPAQ SRCC</a:t>
              </a:r>
              <a:endParaRPr lang="en-US" sz="71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21497" y="1856661"/>
              <a:ext cx="492007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1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SPAQ MAE</a:t>
              </a:r>
              <a:endParaRPr lang="en-US" sz="71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762000" y="2009775"/>
              <a:ext cx="6858000" cy="1181100"/>
              <a:chOff x="762000" y="2009775"/>
              <a:chExt cx="6858000" cy="11811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762000" y="2009775"/>
                <a:ext cx="6858000" cy="228600"/>
              </a:xfrm>
              <a:prstGeom prst="rect">
                <a:avLst/>
              </a:prstGeom>
              <a:solidFill>
                <a:srgbClr val="F8F8F6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01106" y="2094786"/>
                <a:ext cx="836295" cy="1085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10" dirty="0">
                    <a:solidFill>
                      <a:schemeClr val="dk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单角色问分</a:t>
                </a:r>
                <a:r>
                  <a:rPr lang="en-US" altLang="zh-CN" sz="710" dirty="0">
                    <a:solidFill>
                      <a:schemeClr val="dk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,</a:t>
                </a:r>
                <a:r>
                  <a:rPr lang="zh-CN" altLang="en-US" sz="710" dirty="0">
                    <a:solidFill>
                      <a:schemeClr val="dk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加上基准</a:t>
                </a:r>
                <a:endParaRPr lang="zh-CN" altLang="en-US" sz="710" dirty="0">
                  <a:solidFill>
                    <a:schemeClr val="dk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840039" y="2094786"/>
                <a:ext cx="225425" cy="1085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710" dirty="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0.624</a:t>
                </a:r>
                <a:endParaRPr lang="en-US" altLang="zh-CN" sz="710" dirty="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078290" y="2094786"/>
                <a:ext cx="225425" cy="1085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710" dirty="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0.644</a:t>
                </a:r>
                <a:endParaRPr lang="en-US" altLang="zh-CN" sz="710" dirty="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316540" y="2094786"/>
                <a:ext cx="225425" cy="1085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710" dirty="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0.865</a:t>
                </a:r>
                <a:endParaRPr lang="en-US" altLang="zh-CN" sz="710" dirty="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554790" y="2094786"/>
                <a:ext cx="225425" cy="1085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710" dirty="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1.061</a:t>
                </a:r>
                <a:endParaRPr lang="en-US" altLang="zh-CN" sz="710" dirty="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762000" y="2238375"/>
                <a:ext cx="6858000" cy="228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327747" y="2323386"/>
                <a:ext cx="583006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10" dirty="0">
                    <a:solidFill>
                      <a:schemeClr val="dk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加上评估细则</a:t>
                </a:r>
                <a:endParaRPr lang="zh-CN" sz="710" dirty="0">
                  <a:solidFill>
                    <a:schemeClr val="dk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840039" y="2323386"/>
                <a:ext cx="225425" cy="1085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710" dirty="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0.606</a:t>
                </a:r>
                <a:endParaRPr lang="en-US" sz="710" dirty="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078290" y="2323386"/>
                <a:ext cx="225425" cy="1085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dirty="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0.677</a:t>
                </a:r>
                <a:endParaRPr lang="en-US" sz="710" dirty="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316540" y="2323386"/>
                <a:ext cx="225425" cy="1085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dirty="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0.859</a:t>
                </a:r>
                <a:endParaRPr lang="en-US" sz="710" dirty="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554792" y="2323386"/>
                <a:ext cx="225425" cy="1085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dirty="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0.971</a:t>
                </a:r>
                <a:endParaRPr lang="en-US" sz="710" dirty="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762000" y="2466975"/>
                <a:ext cx="6858000" cy="228600"/>
              </a:xfrm>
              <a:prstGeom prst="rect">
                <a:avLst/>
              </a:prstGeom>
              <a:solidFill>
                <a:srgbClr val="F8F8F6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177208" y="2551986"/>
                <a:ext cx="884084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10" dirty="0">
                    <a:solidFill>
                      <a:schemeClr val="dk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五个专家 + 智能分诊</a:t>
                </a:r>
                <a:endParaRPr lang="zh-CN" sz="710" dirty="0">
                  <a:solidFill>
                    <a:schemeClr val="dk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2816565" y="2551986"/>
                <a:ext cx="272371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dirty="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0.619</a:t>
                </a:r>
                <a:endParaRPr lang="en-US" sz="710" dirty="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054815" y="2551986"/>
                <a:ext cx="272371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dirty="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0.533</a:t>
                </a:r>
                <a:endParaRPr lang="en-US" sz="710" dirty="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293065" y="2551986"/>
                <a:ext cx="272371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dirty="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0.860</a:t>
                </a:r>
                <a:endParaRPr lang="en-US" sz="710" dirty="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531315" y="2551986"/>
                <a:ext cx="272371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dirty="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1.014</a:t>
                </a:r>
                <a:endParaRPr lang="en-US" sz="710" dirty="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762000" y="2695575"/>
                <a:ext cx="6858000" cy="228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229360" y="2780586"/>
                <a:ext cx="779780" cy="1085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710" dirty="0">
                    <a:solidFill>
                      <a:schemeClr val="dk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+CKE</a:t>
                </a:r>
                <a:r>
                  <a:rPr lang="zh-CN" altLang="en-US" sz="710" dirty="0">
                    <a:solidFill>
                      <a:schemeClr val="dk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自进化规则库</a:t>
                </a:r>
                <a:endParaRPr lang="zh-CN" altLang="en-US" sz="710" dirty="0">
                  <a:solidFill>
                    <a:schemeClr val="dk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840040" y="2780586"/>
                <a:ext cx="225425" cy="1085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dirty="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0.620</a:t>
                </a:r>
                <a:endParaRPr lang="en-US" sz="710" dirty="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081465" y="2780586"/>
                <a:ext cx="225425" cy="1085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dirty="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0.499</a:t>
                </a:r>
                <a:endParaRPr lang="en-US" sz="710" dirty="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316540" y="2780586"/>
                <a:ext cx="225425" cy="1085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dirty="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0.860</a:t>
                </a:r>
                <a:endParaRPr lang="en-US" sz="710" dirty="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554792" y="2780586"/>
                <a:ext cx="225425" cy="1085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dirty="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1.000</a:t>
                </a:r>
                <a:endParaRPr lang="en-US" sz="710" dirty="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762000" y="2924175"/>
                <a:ext cx="6858000" cy="266700"/>
              </a:xfrm>
              <a:prstGeom prst="rect">
                <a:avLst/>
              </a:prstGeom>
              <a:solidFill>
                <a:schemeClr val="accent1">
                  <a:alpha val="8000"/>
                </a:schemeClr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004805" y="3028236"/>
                <a:ext cx="1228889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10" b="1" dirty="0">
                    <a:solidFill>
                      <a:schemeClr val="accent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最终：动态门控 + 投票混合</a:t>
                </a:r>
                <a:endParaRPr lang="zh-CN" sz="710" b="1" dirty="0">
                  <a:solidFill>
                    <a:schemeClr val="accent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2809994" y="3028236"/>
                <a:ext cx="285513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b="1" dirty="0">
                    <a:solidFill>
                      <a:srgbClr val="2A78D6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0.734</a:t>
                </a:r>
                <a:endParaRPr lang="en-US" sz="710" b="1" dirty="0">
                  <a:solidFill>
                    <a:srgbClr val="2A78D6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048244" y="3028236"/>
                <a:ext cx="285513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b="1" dirty="0">
                    <a:solidFill>
                      <a:srgbClr val="2A78D6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0.491</a:t>
                </a:r>
                <a:endParaRPr lang="en-US" sz="710" b="1" dirty="0">
                  <a:solidFill>
                    <a:srgbClr val="2A78D6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286494" y="3028236"/>
                <a:ext cx="285513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b="1" dirty="0">
                    <a:solidFill>
                      <a:srgbClr val="2A78D6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0.893</a:t>
                </a:r>
                <a:endParaRPr lang="en-US" sz="710" b="1" dirty="0">
                  <a:solidFill>
                    <a:srgbClr val="2A78D6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524744" y="3028236"/>
                <a:ext cx="285513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10" b="1" dirty="0">
                    <a:solidFill>
                      <a:srgbClr val="2A78D6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0.945</a:t>
                </a:r>
                <a:endParaRPr lang="en-US" sz="710" b="1" dirty="0">
                  <a:solidFill>
                    <a:srgbClr val="2A78D6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</p:grpSp>
      </p:grpSp>
      <p:pic>
        <p:nvPicPr>
          <p:cNvPr id="45" name="Image 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5750" y="1867070"/>
            <a:ext cx="3524250" cy="1409361"/>
          </a:xfrm>
          <a:prstGeom prst="rect">
            <a:avLst/>
          </a:prstGeom>
        </p:spPr>
      </p:pic>
      <p:sp>
        <p:nvSpPr>
          <p:cNvPr id="46" name="Rectangle 46"/>
          <p:cNvSpPr/>
          <p:nvPr/>
        </p:nvSpPr>
        <p:spPr>
          <a:xfrm>
            <a:off x="762000" y="3524250"/>
            <a:ext cx="10668000" cy="28575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51" name="Group 51"/>
          <p:cNvGrpSpPr/>
          <p:nvPr/>
        </p:nvGrpSpPr>
        <p:grpSpPr>
          <a:xfrm>
            <a:off x="690563" y="3799999"/>
            <a:ext cx="11103610" cy="2270283"/>
            <a:chOff x="690563" y="3799999"/>
            <a:chExt cx="11103610" cy="2270283"/>
          </a:xfrm>
        </p:grpSpPr>
        <p:sp>
          <p:nvSpPr>
            <p:cNvPr id="47" name="TextBox 47"/>
            <p:cNvSpPr txBox="1"/>
            <p:nvPr/>
          </p:nvSpPr>
          <p:spPr>
            <a:xfrm>
              <a:off x="757238" y="3799999"/>
              <a:ext cx="11036935" cy="17233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R6 相对 R1 基准：</a:t>
              </a:r>
              <a:r>
                <a:rPr lang="en-US" alt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KonIQ SRCC +0.109、MAE −0.154；SPAQ SRCC +0.026、MAE −0.266</a:t>
              </a:r>
              <a:endParaRPr lang="en-US" alt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algn="l">
                <a:lnSpc>
                  <a:spcPct val="150000"/>
                </a:lnSpc>
              </a:pPr>
              <a:r>
                <a:rPr lang="en-US" alt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R1→R2（−0.019 / −0.006）： </a:t>
              </a:r>
              <a:r>
                <a:rPr lang="zh-CN" altLang="en-US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五专家等权融合反而稀释判断——"解释的多样性 ≠ 预测的多样性"，同源多视角七嘴八舌实为掺噪。</a:t>
              </a:r>
              <a:endParaRPr lang="zh-CN" altLang="en-US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algn="l">
                <a:lnSpc>
                  <a:spcPct val="150000"/>
                </a:lnSpc>
              </a:pPr>
              <a:r>
                <a:rPr lang="en-US" alt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R2→R2.5（+0.013 / +0.001）： </a:t>
              </a:r>
              <a:r>
                <a:rPr lang="zh-CN" altLang="en-US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动态分诊先判定主导问题再派专家——"选谁评"比"怎么平均"更关键。</a:t>
              </a:r>
              <a:endParaRPr lang="zh-CN" altLang="en-US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algn="l">
                <a:lnSpc>
                  <a:spcPct val="150000"/>
                </a:lnSpc>
              </a:pPr>
              <a:r>
                <a:rPr lang="en-US" alt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R2.5→R3（+0.001 / 0.000）： CKE </a:t>
              </a:r>
              <a:r>
                <a:rPr lang="zh-CN" altLang="en-US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规则库 9 条注入。内部指标全改善，外部 </a:t>
              </a:r>
              <a:r>
                <a:rPr lang="en-US" alt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SRCC </a:t>
              </a:r>
              <a:r>
                <a:rPr lang="zh-CN" altLang="en-US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纹丝不动 —— 自洽 ≠ 对齐，催生锚相关性定律。</a:t>
              </a:r>
              <a:endParaRPr lang="zh-CN" altLang="en-US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algn="l">
                <a:lnSpc>
                  <a:spcPct val="150000"/>
                </a:lnSpc>
              </a:pPr>
              <a:r>
                <a:rPr lang="en-US" alt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R3→R6（+0.113 / +0.030）：</a:t>
              </a:r>
              <a:r>
                <a:rPr lang="zh-CN" altLang="en-US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全场最大一跳。 监督信号从合成失真排序换为大模型三万次两两比较共识（</a:t>
              </a:r>
              <a:r>
                <a:rPr lang="en-US" alt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BT </a:t>
              </a:r>
              <a:r>
                <a:rPr lang="zh-CN" altLang="en-US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锦标赛），21 参数门控替代静态融合。同一机制不同信号——收益差一个量级。</a:t>
              </a:r>
              <a:endParaRPr lang="zh-CN" altLang="en-US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（中间臂 </a:t>
              </a:r>
              <a:r>
                <a:rPr lang="en-US" alt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R4/R5 </a:t>
              </a:r>
              <a:r>
                <a:rPr lang="zh-CN" altLang="en-US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为验证性产物，已删除；其有效成分——</a:t>
              </a:r>
              <a:r>
                <a:rPr lang="en-US" alt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BT </a:t>
              </a:r>
              <a:r>
                <a:rPr lang="zh-CN" altLang="en-US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监督路由与释义投票——已全数并入 </a:t>
              </a:r>
              <a:r>
                <a:rPr lang="en-US" alt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R6。R4 </a:t>
              </a:r>
              <a:r>
                <a:rPr lang="zh-CN" altLang="en-US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对照实验最关键：换信号前同一代码仅 +0.007，换 </a:t>
              </a:r>
              <a:r>
                <a:rPr lang="en-US" alt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BT </a:t>
              </a:r>
              <a:r>
                <a:rPr lang="zh-CN" altLang="en-US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排行榜后 +0.062，十倍差，"更接近真实目标"不是绝对意义上的接近，是相对于合成失真阶梯而言的——都是模型自己判断，但</a:t>
              </a:r>
              <a:r>
                <a:rPr lang="zh-CN" altLang="en-US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比较判断真实照片比判断人工失真更能反映质量感知能力。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8632" y="5673884"/>
              <a:ext cx="5965825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经验规则不具有普适性</a:t>
              </a: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</a:t>
              </a:r>
              <a:r>
                <a:rPr lang="en-US" altLang="zh-CN" sz="980" dirty="0">
                  <a:solidFill>
                    <a:schemeClr val="dk1"/>
                  </a:solidFill>
                  <a:sym typeface="+mn-ea"/>
                </a:rPr>
                <a:t>CKE </a:t>
              </a:r>
              <a:r>
                <a:rPr lang="zh-CN" altLang="en-US" sz="980" dirty="0">
                  <a:solidFill>
                    <a:schemeClr val="dk1"/>
                  </a:solidFill>
                  <a:sym typeface="+mn-ea"/>
                </a:rPr>
                <a:t>规则库零收益，</a:t>
              </a: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 AI 自己提炼"小抄"注入提示词，排名几乎没动（+0.001）。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0563" y="5894070"/>
              <a:ext cx="49957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57575"/>
                  </a:solidFill>
                  <a:latin typeface="+mn-lt"/>
                  <a:ea typeface="+mn-ea"/>
                  <a:cs typeface="+mn-cs"/>
                </a:rPr>
                <a:t>参考：同一家族 8B 模型在别人论文里的零样本得分是 0.729 — 我不用训练就到了 0.734</a:t>
              </a:r>
              <a:endParaRPr lang="zh-CN" sz="900" dirty="0">
                <a:solidFill>
                  <a:srgbClr val="75757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52" name="Ellipse 52"/>
          <p:cNvSpPr/>
          <p:nvPr/>
        </p:nvSpPr>
        <p:spPr>
          <a:xfrm>
            <a:off x="642938" y="3786188"/>
            <a:ext cx="47625" cy="4762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3" name="Ellipse 53"/>
          <p:cNvSpPr/>
          <p:nvPr/>
        </p:nvSpPr>
        <p:spPr>
          <a:xfrm>
            <a:off x="642938" y="4167188"/>
            <a:ext cx="47625" cy="4762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4" name="Ellipse 54"/>
          <p:cNvSpPr/>
          <p:nvPr/>
        </p:nvSpPr>
        <p:spPr>
          <a:xfrm>
            <a:off x="642938" y="4500562"/>
            <a:ext cx="47625" cy="4762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1142536" y="6567488"/>
            <a:ext cx="29222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750" dirty="0">
                <a:solidFill>
                  <a:srgbClr val="C3C2B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 / 11</a:t>
            </a:r>
            <a:endParaRPr lang="en-US" sz="750" dirty="0">
              <a:solidFill>
                <a:srgbClr val="C3C2B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271078" y="959167"/>
            <a:ext cx="3302000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0" b="1" spc="225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分数靠谱吗？怎么证明不是碰运气？</a:t>
            </a:r>
            <a:endParaRPr lang="zh-CN" sz="1400" b="1" spc="225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42950" y="361950"/>
            <a:ext cx="1271270" cy="13849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0" b="1" dirty="0">
                <a:solidFill>
                  <a:schemeClr val="accent1">
                    <a:lumMod val="50000"/>
                    <a:lumOff val="50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  <a:endParaRPr lang="en-US" sz="9000" b="1" dirty="0">
              <a:solidFill>
                <a:schemeClr val="accent1">
                  <a:lumMod val="50000"/>
                  <a:lumOff val="50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7" name="Imag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86526"/>
            <a:ext cx="5524500" cy="2589699"/>
          </a:xfrm>
          <a:prstGeom prst="rect">
            <a:avLst/>
          </a:prstGeom>
        </p:spPr>
      </p:pic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427" y="1857375"/>
            <a:ext cx="5123397" cy="30480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452438" y="5042297"/>
            <a:ext cx="6614582" cy="1097756"/>
            <a:chOff x="452438" y="5042297"/>
            <a:chExt cx="6614582" cy="1097756"/>
          </a:xfrm>
        </p:grpSpPr>
        <p:sp>
          <p:nvSpPr>
            <p:cNvPr id="9" name="TextBox 9"/>
            <p:cNvSpPr txBox="1"/>
            <p:nvPr/>
          </p:nvSpPr>
          <p:spPr>
            <a:xfrm>
              <a:off x="452438" y="5042297"/>
              <a:ext cx="515981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左图：</a:t>
              </a:r>
              <a:r>
                <a:rPr lang="zh-CN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最终模型打分（纵轴）vs 真人打分（横轴）。每一点是一张图。颜色越深 = 图越多。</a:t>
              </a:r>
              <a:endParaRPr lang="zh-CN" sz="94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2438" y="5308997"/>
              <a:ext cx="610888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虚线是完全一致的位置。两张考卷的点都贴着虚线走——说明给的分数跟真人基本对应，没有系统性地"偏心"。</a:t>
              </a:r>
              <a:endParaRPr lang="zh-CN" sz="94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2438" y="5689997"/>
              <a:ext cx="569619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右图：</a:t>
              </a:r>
              <a:r>
                <a:rPr lang="zh-CN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最意外的发现。我用大模型（32B）训练的 21 个门控参数，原封不动放到小模型（8B）——</a:t>
              </a:r>
              <a:endParaRPr lang="zh-CN" sz="94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2438" y="5956697"/>
              <a:ext cx="661458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零额外 API 调用，纯本地矩阵乘法。结果：小模型的排名准确率从 0.759 跳到 0.776，甚至超过了大模型自己。</a:t>
              </a:r>
              <a:endParaRPr lang="zh-CN" sz="94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4" name="Rectangle 14"/>
          <p:cNvSpPr/>
          <p:nvPr/>
        </p:nvSpPr>
        <p:spPr>
          <a:xfrm>
            <a:off x="457200" y="6286500"/>
            <a:ext cx="11277600" cy="19050"/>
          </a:xfrm>
          <a:prstGeom prst="rect">
            <a:avLst/>
          </a:prstGeom>
          <a:solidFill>
            <a:srgbClr val="E1E0D9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52247" y="6419374"/>
            <a:ext cx="654823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门控学到的不是某个特定模型的评分习惯，而是"什么样的图像特征该信哪个专家"——因此可以跨模型迁移。</a:t>
            </a:r>
            <a:endParaRPr lang="zh-CN" sz="980" b="1" dirty="0">
              <a:solidFill>
                <a:schemeClr val="accent2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1142536" y="6567488"/>
            <a:ext cx="29222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750" dirty="0">
                <a:solidFill>
                  <a:srgbClr val="C3C2B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 / 11</a:t>
            </a:r>
            <a:endParaRPr lang="en-US" sz="750" dirty="0">
              <a:solidFill>
                <a:srgbClr val="C3C2B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57238" y="6567488"/>
            <a:ext cx="21145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A0A0A0"/>
                </a:solidFill>
                <a:latin typeface="+mn-lt"/>
                <a:ea typeface="+mn-ea"/>
                <a:cs typeface="+mn-cs"/>
              </a:rPr>
              <a:t>发现</a:t>
            </a:r>
            <a:endParaRPr lang="zh-CN" sz="750" dirty="0">
              <a:solidFill>
                <a:srgbClr val="A0A0A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204403" y="916622"/>
            <a:ext cx="1444625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0" b="1" spc="225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最反直觉的发现</a:t>
            </a:r>
            <a:endParaRPr lang="zh-CN" sz="1400" b="1" spc="225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79450" y="396240"/>
            <a:ext cx="1271270" cy="13849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0" b="1" dirty="0">
                <a:solidFill>
                  <a:schemeClr val="accent1">
                    <a:lumMod val="50000"/>
                    <a:lumOff val="50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</a:t>
            </a:r>
            <a:endParaRPr lang="en-US" sz="9000" b="1" dirty="0">
              <a:solidFill>
                <a:schemeClr val="accent1">
                  <a:lumMod val="50000"/>
                  <a:lumOff val="50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54380" y="1647825"/>
            <a:ext cx="467982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给模型的提示词写得越详细，分数偏差反而越大。</a:t>
            </a:r>
            <a:endParaRPr lang="zh-CN" sz="15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762000" y="1952625"/>
            <a:ext cx="3810000" cy="190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57047" y="2180749"/>
            <a:ext cx="386219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57575"/>
                </a:solidFill>
                <a:latin typeface="+mn-lt"/>
                <a:ea typeface="+mn-ea"/>
                <a:cs typeface="+mn-cs"/>
              </a:rPr>
              <a:t>这跟直觉完全相反——通常会认为"指导得越具体，模型答得越准"。</a:t>
            </a:r>
            <a:endParaRPr lang="zh-CN" sz="980" dirty="0">
              <a:solidFill>
                <a:srgbClr val="75757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757238" y="2613422"/>
            <a:ext cx="7070613" cy="2742803"/>
            <a:chOff x="757238" y="2613422"/>
            <a:chExt cx="7070613" cy="2742803"/>
          </a:xfrm>
        </p:grpSpPr>
        <p:sp>
          <p:nvSpPr>
            <p:cNvPr id="10" name="TextBox 10"/>
            <p:cNvSpPr txBox="1"/>
            <p:nvPr/>
          </p:nvSpPr>
          <p:spPr>
            <a:xfrm>
              <a:off x="757238" y="2613422"/>
              <a:ext cx="160396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一个消融实验揭示了原因：</a:t>
              </a:r>
              <a:endParaRPr lang="zh-CN" sz="94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238" y="2899172"/>
              <a:ext cx="707061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我把提示词一层一层加回去——先加"你是一个评估专家"的人设，再加"1=差 5=好"的锚点带，再加具体的检查清单和评估程序。</a:t>
              </a:r>
              <a:endParaRPr lang="zh-CN" sz="94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238" y="3232547"/>
              <a:ext cx="386908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每加一层，排名准确率维持在差不多的水平——但</a:t>
              </a:r>
              <a:r>
                <a:rPr lang="zh-CN" sz="94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分数偏差越来越大</a:t>
              </a:r>
              <a:r>
                <a:rPr lang="zh-CN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  <a:endParaRPr lang="zh-CN" sz="94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238" y="3565922"/>
              <a:ext cx="40813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分析：</a:t>
              </a:r>
              <a:endParaRPr lang="zh-CN" sz="94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238" y="3851672"/>
              <a:ext cx="533697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大模型对哪张比哪张好的判断（排名）本来就挺准。加了锚点带后，排名知识被注入——保住了。</a:t>
              </a:r>
              <a:endParaRPr lang="zh-CN" sz="94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238" y="4185047"/>
              <a:ext cx="433904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但锚点带同时把人造的分数区间（"Excellent 就是 4.3-5.0"）塞给了模型，</a:t>
              </a:r>
              <a:endParaRPr lang="zh-CN" sz="94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7238" y="4470797"/>
              <a:ext cx="395766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模型本来的"这张图在人群里大概值几分"的直觉被覆盖了——零点偏了。</a:t>
              </a:r>
              <a:endParaRPr lang="zh-CN" sz="94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7238" y="4899422"/>
              <a:ext cx="518480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更重要的：这不是 bug。排序和绝对校准是两种独立的能力，需要两个独立通道来完成。</a:t>
              </a:r>
              <a:endParaRPr lang="zh-CN" sz="94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7238" y="5217795"/>
              <a:ext cx="33147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57575"/>
                  </a:solidFill>
                  <a:latin typeface="+mn-lt"/>
                  <a:ea typeface="+mn-ea"/>
                  <a:cs typeface="+mn-cs"/>
                </a:rPr>
                <a:t>所以我在最终方案里让锚点负责排序，裸问投票负责模型直觉</a:t>
              </a:r>
              <a:r>
                <a:rPr lang="zh-CN" sz="900" dirty="0">
                  <a:solidFill>
                    <a:srgbClr val="757575"/>
                  </a:solidFill>
                  <a:latin typeface="+mn-lt"/>
                  <a:ea typeface="+mn-ea"/>
                  <a:cs typeface="+mn-cs"/>
                </a:rPr>
                <a:t>校准</a:t>
              </a:r>
              <a:endParaRPr lang="zh-CN" sz="900" dirty="0">
                <a:solidFill>
                  <a:srgbClr val="757575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20" name="Imag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2342" y="2095500"/>
            <a:ext cx="5450816" cy="2286000"/>
          </a:xfrm>
          <a:prstGeom prst="rect">
            <a:avLst/>
          </a:prstGeom>
        </p:spPr>
      </p:pic>
      <p:pic>
        <p:nvPicPr>
          <p:cNvPr id="21" name="Imag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577" y="4524375"/>
            <a:ext cx="4938346" cy="20955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5900738" y="4356259"/>
            <a:ext cx="2587198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80" dirty="0">
                <a:solidFill>
                  <a:srgbClr val="A0A0A0"/>
                </a:solidFill>
                <a:latin typeface="+mn-lt"/>
                <a:ea typeface="+mn-ea"/>
                <a:cs typeface="+mn-cs"/>
              </a:rPr>
              <a:t>左：SRCC 持平、MAE 恶化　右：锚点把输出分布重塑成尖峰</a:t>
            </a:r>
            <a:endParaRPr lang="zh-CN" sz="680" dirty="0">
              <a:solidFill>
                <a:srgbClr val="A0A0A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1142536" y="6567488"/>
            <a:ext cx="29222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750" dirty="0">
                <a:solidFill>
                  <a:srgbClr val="C3C2B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 / 11</a:t>
            </a:r>
            <a:endParaRPr lang="en-US" sz="750" dirty="0">
              <a:solidFill>
                <a:srgbClr val="C3C2B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57238" y="6567488"/>
            <a:ext cx="21145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A0A0A0"/>
                </a:solidFill>
                <a:latin typeface="+mn-lt"/>
                <a:ea typeface="+mn-ea"/>
                <a:cs typeface="+mn-cs"/>
              </a:rPr>
              <a:t>发现</a:t>
            </a:r>
            <a:endParaRPr lang="zh-CN" sz="750" dirty="0">
              <a:solidFill>
                <a:srgbClr val="A0A0A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57238" y="823912"/>
            <a:ext cx="1651000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0" b="1" spc="225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另外三个关键发现</a:t>
            </a:r>
            <a:endParaRPr lang="zh-CN" sz="1400" b="1" spc="225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762000" y="1285875"/>
            <a:ext cx="3429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46404" y="1451610"/>
            <a:ext cx="13691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锚点扮演双重角色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947738" y="1998345"/>
            <a:ext cx="3433445" cy="1938337"/>
            <a:chOff x="947738" y="1998345"/>
            <a:chExt cx="3433445" cy="1938337"/>
          </a:xfrm>
        </p:grpSpPr>
        <p:sp>
          <p:nvSpPr>
            <p:cNvPr id="8" name="TextBox 8"/>
            <p:cNvSpPr txBox="1"/>
            <p:nvPr/>
          </p:nvSpPr>
          <p:spPr>
            <a:xfrm>
              <a:off x="947738" y="1998345"/>
              <a:ext cx="20692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同一组件，在不同地方作用完全相反。</a:t>
              </a:r>
              <a:endParaRPr lang="zh-CN" sz="9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7738" y="2379345"/>
              <a:ext cx="10272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单独使用时：有害</a:t>
              </a:r>
              <a:endParaRPr lang="zh-CN" sz="9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7738" y="2646045"/>
              <a:ext cx="30869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一支笔打分，带上锚点后偏差反而从 0.463 升到 0.544。</a:t>
              </a:r>
              <a:endParaRPr lang="zh-CN" sz="9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7738" y="3027045"/>
              <a:ext cx="12816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多专家协作时：必需品</a:t>
              </a:r>
              <a:endParaRPr lang="zh-CN" sz="9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7738" y="3293745"/>
              <a:ext cx="3433445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去掉锚点后，三支笔的刻度不统一——技术专家天然比整体专家严两个等级。融合器分不清图间差异，SPAQ 偏差从 0.945 崩到 1.208。</a:t>
              </a:r>
              <a:endParaRPr lang="zh-CN" sz="9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7738" y="3760470"/>
              <a:ext cx="26871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57575"/>
                  </a:solidFill>
                  <a:latin typeface="+mn-lt"/>
                  <a:ea typeface="+mn-ea"/>
                  <a:cs typeface="+mn-cs"/>
                </a:rPr>
                <a:t>锚点是专家间的"公共度量衡"，没有它各说各话。</a:t>
              </a:r>
              <a:endParaRPr lang="zh-CN" sz="900" dirty="0">
                <a:solidFill>
                  <a:srgbClr val="75757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5" name="Rectangle 15"/>
          <p:cNvSpPr/>
          <p:nvPr/>
        </p:nvSpPr>
        <p:spPr>
          <a:xfrm>
            <a:off x="4381500" y="1285875"/>
            <a:ext cx="3429000" cy="457200"/>
          </a:xfrm>
          <a:prstGeom prst="rect">
            <a:avLst/>
          </a:prstGeom>
          <a:solidFill>
            <a:srgbClr val="2E3F5E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565904" y="1451610"/>
            <a:ext cx="17084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自进化规则库完全没用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4567555" y="1998345"/>
            <a:ext cx="3438525" cy="1800860"/>
            <a:chOff x="4567238" y="1998345"/>
            <a:chExt cx="4785630" cy="1800861"/>
          </a:xfrm>
        </p:grpSpPr>
        <p:sp>
          <p:nvSpPr>
            <p:cNvPr id="17" name="TextBox 17"/>
            <p:cNvSpPr txBox="1"/>
            <p:nvPr/>
          </p:nvSpPr>
          <p:spPr>
            <a:xfrm>
              <a:off x="4567238" y="1998345"/>
              <a:ext cx="3946017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设计思路：让 AI 发现自己的打分矛盾 → 提炼成规则 → 带着规则再打。</a:t>
              </a:r>
              <a:endParaRPr lang="zh-CN" sz="9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67238" y="2379345"/>
              <a:ext cx="4504487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实际情况：内部指标全面改善——两种评分路线更一致了、对合成失真的排序更准了。</a:t>
              </a:r>
              <a:endParaRPr lang="zh-CN" sz="9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67238" y="2760345"/>
              <a:ext cx="2691088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外部评分：SRCC 只多 0.001。</a:t>
              </a:r>
              <a:endParaRPr lang="zh-CN" sz="9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67238" y="3188970"/>
              <a:ext cx="117355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教训：自洽 ≠ 对齐。</a:t>
              </a:r>
              <a:endParaRPr lang="zh-CN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67238" y="3522346"/>
              <a:ext cx="478563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57575"/>
                  </a:solidFill>
                  <a:latin typeface="+mn-lt"/>
                  <a:ea typeface="+mn-ea"/>
                  <a:cs typeface="+mn-cs"/>
                </a:rPr>
                <a:t>训练的优化方向（让模型自洽）跟最终目标（跟人类对齐）不是一回事。这个失败催生了锚定相关</a:t>
              </a:r>
              <a:r>
                <a:rPr lang="zh-CN" sz="900" dirty="0">
                  <a:solidFill>
                    <a:srgbClr val="757575"/>
                  </a:solidFill>
                  <a:latin typeface="+mn-lt"/>
                  <a:ea typeface="+mn-ea"/>
                  <a:cs typeface="+mn-cs"/>
                </a:rPr>
                <a:t>想法。</a:t>
              </a:r>
              <a:endParaRPr lang="zh-CN" sz="900" dirty="0">
                <a:solidFill>
                  <a:srgbClr val="75757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3" name="Rectangle 23"/>
          <p:cNvSpPr/>
          <p:nvPr/>
        </p:nvSpPr>
        <p:spPr>
          <a:xfrm>
            <a:off x="8001000" y="1285875"/>
            <a:ext cx="3429000" cy="457200"/>
          </a:xfrm>
          <a:prstGeom prst="rect">
            <a:avLst/>
          </a:prstGeom>
          <a:solidFill>
            <a:srgbClr val="3F537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185404" y="1451610"/>
            <a:ext cx="17084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分数偏差无法根本消除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1" name="Group 31"/>
          <p:cNvGrpSpPr/>
          <p:nvPr/>
        </p:nvGrpSpPr>
        <p:grpSpPr>
          <a:xfrm>
            <a:off x="8187055" y="1998345"/>
            <a:ext cx="3693160" cy="2134232"/>
            <a:chOff x="8186738" y="1998345"/>
            <a:chExt cx="5220873" cy="2134235"/>
          </a:xfrm>
        </p:grpSpPr>
        <p:sp>
          <p:nvSpPr>
            <p:cNvPr id="25" name="TextBox 25"/>
            <p:cNvSpPr txBox="1"/>
            <p:nvPr/>
          </p:nvSpPr>
          <p:spPr>
            <a:xfrm>
              <a:off x="8186738" y="1998345"/>
              <a:ext cx="4247007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三轮实验下来，所有方法对 KonIQ 都"给分偏高"、对 SPAQ 都"给分偏低"。</a:t>
              </a:r>
              <a:endParaRPr lang="zh-CN" sz="9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86738" y="2379345"/>
              <a:ext cx="391173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原因：</a:t>
              </a:r>
              <a:endParaRPr lang="zh-CN" sz="9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86738" y="2646045"/>
              <a:ext cx="4540834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模型看野生网图天然宽容（+0.2~0.6 分），看手机照片天然挑剔（−0.4~0.6 分）。</a:t>
              </a:r>
              <a:endParaRPr lang="zh-CN" sz="9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86738" y="3027045"/>
              <a:ext cx="4256113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这种"内容依赖的偏见"幅度约 19 个百分点——真人只有 6 个百分点，差了三倍。</a:t>
              </a:r>
              <a:endParaRPr lang="zh-CN" sz="9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86738" y="3427095"/>
              <a:ext cx="4746803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纠正它需要知道真人的平均分——但真人分被规则禁止用于调参。这是个原则性的天花板。</a:t>
              </a:r>
              <a:endParaRPr lang="zh-CN" sz="9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86738" y="3855720"/>
              <a:ext cx="5220873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57575"/>
                  </a:solidFill>
                  <a:latin typeface="+mn-lt"/>
                  <a:ea typeface="+mn-ea"/>
                  <a:cs typeface="+mn-cs"/>
                </a:rPr>
                <a:t>好消息是排名不受影响——KonIQ 排名准确率从 0.577 涨到 0.734，说明"谁比谁好"判断对了。</a:t>
              </a:r>
              <a:endParaRPr lang="zh-CN" sz="900" dirty="0">
                <a:solidFill>
                  <a:srgbClr val="75757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2" name="Rectangle 32"/>
          <p:cNvSpPr/>
          <p:nvPr/>
        </p:nvSpPr>
        <p:spPr>
          <a:xfrm>
            <a:off x="762000" y="4619625"/>
            <a:ext cx="10668000" cy="28575"/>
          </a:xfrm>
          <a:prstGeom prst="rect">
            <a:avLst/>
          </a:prstGeom>
          <a:solidFill>
            <a:srgbClr val="E1E0D9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56285" y="4974431"/>
            <a:ext cx="191118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三条线索指向同一个结论：</a:t>
            </a:r>
            <a:endParaRPr lang="zh-CN" sz="112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756666" y="5363528"/>
            <a:ext cx="727141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零训练自监督 IQA 的上限，由你用来监督模型的信号跟真实目标的相关性决定——而不是模型本身的能力。</a:t>
            </a:r>
            <a:endParaRPr lang="zh-CN" sz="1050" b="1" dirty="0">
              <a:solidFill>
                <a:schemeClr val="accent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757238" y="5760720"/>
            <a:ext cx="412889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57575"/>
                </a:solidFill>
                <a:latin typeface="+mn-lt"/>
                <a:ea typeface="+mn-ea"/>
                <a:cs typeface="+mn-cs"/>
              </a:rPr>
              <a:t>下一轮我们用预注册实验定量验证了这个命题，再下一轮用它做最大化放大。</a:t>
            </a:r>
            <a:endParaRPr lang="zh-CN" sz="900" dirty="0">
              <a:solidFill>
                <a:srgbClr val="75757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1142536" y="6567488"/>
            <a:ext cx="29222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750" dirty="0">
                <a:solidFill>
                  <a:srgbClr val="5A6A8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 / 11</a:t>
            </a:r>
            <a:endParaRPr lang="en-US" sz="750" dirty="0">
              <a:solidFill>
                <a:srgbClr val="5A6A8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42594" y="599122"/>
            <a:ext cx="360306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锚相关性定律：三轮完整闭合</a:t>
            </a:r>
            <a:endParaRPr lang="zh-CN" sz="19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47166" y="1029652"/>
            <a:ext cx="49791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B8BA8"/>
                </a:solidFill>
                <a:latin typeface="+mn-lt"/>
                <a:ea typeface="+mn-ea"/>
                <a:cs typeface="+mn-cs"/>
              </a:rPr>
              <a:t>从一个失败实验到一条可验证的定律，再到跨模型泛化 — 贯穿全项目的核心线索</a:t>
            </a:r>
            <a:endParaRPr lang="zh-CN" sz="1050" dirty="0">
              <a:solidFill>
                <a:srgbClr val="7B8BA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762000" y="1524000"/>
            <a:ext cx="10668000" cy="1333500"/>
          </a:xfrm>
          <a:prstGeom prst="rect">
            <a:avLst/>
          </a:prstGeom>
          <a:solidFill>
            <a:srgbClr val="21365A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1524000"/>
            <a:ext cx="57150" cy="133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135380" y="1695450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第一轮 · 发现</a:t>
            </a:r>
            <a:endParaRPr lang="zh-CN" sz="1500" b="1" dirty="0">
              <a:solidFill>
                <a:schemeClr val="accent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37666" y="2029778"/>
            <a:ext cx="51346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我们花 ¥69 训练了一个自进化规则库，内部指标全在改善，但最终评分几乎没变。</a:t>
            </a:r>
            <a:endParaRPr lang="zh-CN" sz="105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38047" y="2323624"/>
            <a:ext cx="779363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3C2B7"/>
                </a:solidFill>
                <a:latin typeface="+mn-lt"/>
                <a:ea typeface="+mn-ea"/>
                <a:cs typeface="+mn-cs"/>
              </a:rPr>
              <a:t>原因：规则库的优化目标（让模型自洽）跟最终目标（跟人类评分对齐）不是一回事。同时发现让五个同源专家互相加权也几乎没用。</a:t>
            </a:r>
            <a:endParaRPr lang="zh-CN" sz="980" dirty="0">
              <a:solidFill>
                <a:srgbClr val="C3C2B7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38047" y="2609374"/>
            <a:ext cx="579493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3C2B7"/>
                </a:solidFill>
                <a:latin typeface="+mn-lt"/>
                <a:ea typeface="+mn-ea"/>
                <a:cs typeface="+mn-cs"/>
              </a:rPr>
              <a:t>→ 提出假设：自监督的上限不由模型能力决定，而由你用来监督它的信号跟真实目标的相关性决定。</a:t>
            </a:r>
            <a:endParaRPr lang="zh-CN" sz="980" dirty="0">
              <a:solidFill>
                <a:srgbClr val="C3C2B7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2"/>
          <p:cNvSpPr/>
          <p:nvPr/>
        </p:nvSpPr>
        <p:spPr>
          <a:xfrm>
            <a:off x="762000" y="3048000"/>
            <a:ext cx="10668000" cy="1333500"/>
          </a:xfrm>
          <a:prstGeom prst="rect">
            <a:avLst/>
          </a:prstGeom>
          <a:solidFill>
            <a:srgbClr val="21365A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762000" y="3048000"/>
            <a:ext cx="57150" cy="133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135380" y="3219450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第二轮 · 验证</a:t>
            </a:r>
            <a:endParaRPr lang="zh-CN" sz="1500" b="1" dirty="0">
              <a:solidFill>
                <a:schemeClr val="accent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37666" y="3553778"/>
            <a:ext cx="58343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关键实验：同一套融合代码，只把监督信号从"合成失真排序"换成"大模型两两比较的排序"，</a:t>
            </a:r>
            <a:endParaRPr lang="zh-CN" sz="105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37666" y="3839528"/>
            <a:ext cx="47671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收益从 +0.007 跳到 +0.062 — 近十倍。同一机制、同一代码、仅信号不同。</a:t>
            </a:r>
            <a:endParaRPr lang="zh-CN" sz="105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38047" y="4133374"/>
            <a:ext cx="467964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3C2B7"/>
                </a:solidFill>
                <a:latin typeface="+mn-lt"/>
                <a:ea typeface="+mn-ea"/>
                <a:cs typeface="+mn-cs"/>
              </a:rPr>
              <a:t>→ 假设升级为可定量验证的定律。写进预注册文档，冻结后再读 MOS 检验。</a:t>
            </a:r>
            <a:endParaRPr lang="zh-CN" sz="980" dirty="0">
              <a:solidFill>
                <a:srgbClr val="C3C2B7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Rectangle 18"/>
          <p:cNvSpPr/>
          <p:nvPr/>
        </p:nvSpPr>
        <p:spPr>
          <a:xfrm>
            <a:off x="762000" y="4572000"/>
            <a:ext cx="10668000" cy="1428750"/>
          </a:xfrm>
          <a:prstGeom prst="rect">
            <a:avLst/>
          </a:prstGeom>
          <a:solidFill>
            <a:srgbClr val="21365A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762000" y="4572000"/>
            <a:ext cx="57150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135380" y="4743450"/>
            <a:ext cx="262316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第三轮 · 放大 + 跨模型迁移</a:t>
            </a:r>
            <a:endParaRPr lang="zh-CN" sz="1500" b="1" dirty="0">
              <a:solidFill>
                <a:schemeClr val="accent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137666" y="5077778"/>
            <a:ext cx="54809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锦标赛从几千场扩到三万二千场；用 21 个参数的门控矩阵逐图为三个专家分配话语权；</a:t>
            </a:r>
            <a:endParaRPr lang="zh-CN" sz="105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37666" y="5363528"/>
            <a:ext cx="429360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训练出的矩阵套到另一个模型上 — 零额外调用 — 排序能力反超原主。</a:t>
            </a:r>
            <a:endParaRPr lang="zh-CN" sz="105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38047" y="5704999"/>
            <a:ext cx="328830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3C2B7"/>
                </a:solidFill>
                <a:latin typeface="+mn-lt"/>
                <a:ea typeface="+mn-ea"/>
                <a:cs typeface="+mn-cs"/>
              </a:rPr>
              <a:t>→ 定律的去模型依赖性被实证：信号质量高于模型规模。</a:t>
            </a:r>
            <a:endParaRPr lang="zh-CN" sz="980" dirty="0">
              <a:solidFill>
                <a:srgbClr val="C3C2B7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1087005" y="6567488"/>
            <a:ext cx="34775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750" dirty="0">
                <a:solidFill>
                  <a:srgbClr val="5A6A8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 / 11</a:t>
            </a:r>
            <a:endParaRPr lang="en-US" sz="750" dirty="0">
              <a:solidFill>
                <a:srgbClr val="5A6A8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41832" y="535305"/>
            <a:ext cx="61501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结论</a:t>
            </a:r>
            <a:endParaRPr lang="zh-CN" sz="21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130808" y="1122045"/>
            <a:ext cx="12567671" cy="3964019"/>
            <a:chOff x="1130808" y="1122045"/>
            <a:chExt cx="12567671" cy="3964019"/>
          </a:xfrm>
        </p:grpSpPr>
        <p:sp>
          <p:nvSpPr>
            <p:cNvPr id="5" name="TextBox 5"/>
            <p:cNvSpPr txBox="1"/>
            <p:nvPr/>
          </p:nvSpPr>
          <p:spPr>
            <a:xfrm>
              <a:off x="1130808" y="1122045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01</a:t>
              </a:r>
              <a:endParaRPr lang="en-US" sz="2400" b="1" dirty="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707642" y="1235392"/>
              <a:ext cx="44312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统一框架 — 两数据集、两个模型规模，走同一套代码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09547" y="1561624"/>
              <a:ext cx="7547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3C2B7"/>
                  </a:solidFill>
                  <a:latin typeface="+mn-lt"/>
                  <a:ea typeface="+mn-ea"/>
                  <a:cs typeface="+mn-cs"/>
                </a:rPr>
                <a:t>主干大模型全程不训练，调一次参数就永久缓存，任何实验结果一键复现。唯一被训练的组件是 Router 层一个 21 参数的矩阵。</a:t>
              </a:r>
              <a:endParaRPr lang="zh-CN" sz="980" dirty="0">
                <a:solidFill>
                  <a:srgbClr val="C3C2B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0808" y="2169795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02</a:t>
              </a:r>
              <a:endParaRPr lang="en-US" sz="2400" b="1" dirty="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7642" y="2283142"/>
              <a:ext cx="47922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BT 锦标赛 + 门控矩阵 — 让大模型自己教自己怎么路由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9547" y="2609374"/>
              <a:ext cx="9706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3C2B7"/>
                  </a:solidFill>
                  <a:latin typeface="+mn-lt"/>
                  <a:ea typeface="+mn-ea"/>
                  <a:cs typeface="+mn-cs"/>
                </a:rPr>
                <a:t>三万余场两两比较把"哪些图更差"的共识蒸馏成监督信号；21 个参数的门控学会按图像特征决定信任哪个专家。矩阵高度可读、可跨模型迁移、零新增调用反超原主。</a:t>
              </a:r>
              <a:endParaRPr lang="zh-CN" sz="980" dirty="0">
                <a:solidFill>
                  <a:srgbClr val="C3C2B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0808" y="3312795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03</a:t>
              </a:r>
              <a:endParaRPr lang="en-US" sz="2400" b="1" dirty="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7642" y="3426142"/>
              <a:ext cx="42404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三项可证伪的发现 — 负面结果与正面结果同等记录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9547" y="3752374"/>
              <a:ext cx="101023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3C2B7"/>
                  </a:solidFill>
                  <a:latin typeface="+mn-lt"/>
                  <a:ea typeface="+mn-ea"/>
                  <a:cs typeface="+mn-cs"/>
                </a:rPr>
                <a:t>提示词加得越多、绝对误差越大（排序与校准可分离）· 锚点在单问中是成本、在融合中是必需品（双重角色）· 自进化规则库花 ¥69 换来接近零的外部收益（自洽≠对齐）。</a:t>
              </a:r>
              <a:endParaRPr lang="zh-CN" sz="980" dirty="0">
                <a:solidFill>
                  <a:srgbClr val="C3C2B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0808" y="4455795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04</a:t>
              </a:r>
              <a:endParaRPr lang="en-US" sz="2400" b="1" dirty="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7642" y="4569142"/>
              <a:ext cx="4049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锚相关性定律 — 从失败到跨模型验证的完整闭环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9547" y="4895374"/>
              <a:ext cx="119889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3C2B7"/>
                  </a:solidFill>
                  <a:latin typeface="+mn-lt"/>
                  <a:ea typeface="+mn-ea"/>
                  <a:cs typeface="+mn-cs"/>
                </a:rPr>
                <a:t>发现（一）：+0.001 零收益证伪"自洽驱动改进" → 验证（二）：同机制换信号从 +0.007 跃至 +0.062 → 放大（三）：三万余场对决 + 逐图动态门控推动主指标跃升 → 跨模型迁移确认定律不依赖特定模型。</a:t>
              </a:r>
              <a:endParaRPr lang="zh-CN" sz="980" dirty="0">
                <a:solidFill>
                  <a:srgbClr val="C3C2B7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7429500" y="0"/>
            <a:ext cx="4762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32385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48284" y="2185035"/>
            <a:ext cx="231731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谢谢各位老师</a:t>
            </a:r>
            <a:endParaRPr lang="zh-CN" sz="27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55142" y="280701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757575"/>
                </a:solidFill>
                <a:latin typeface="+mn-lt"/>
                <a:ea typeface="+mn-ea"/>
                <a:cs typeface="+mn-cs"/>
              </a:rPr>
              <a:t>请批评指正</a:t>
            </a:r>
            <a:endParaRPr lang="zh-CN" sz="1350" dirty="0">
              <a:solidFill>
                <a:srgbClr val="75757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56285" y="3783806"/>
            <a:ext cx="42672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张丞　</a:t>
            </a:r>
            <a:endParaRPr lang="zh-CN" sz="112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57238" y="4141470"/>
            <a:ext cx="734695" cy="1384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0A0"/>
                </a:solidFill>
                <a:latin typeface="+mn-lt"/>
                <a:ea typeface="+mn-ea"/>
                <a:cs typeface="+mn-cs"/>
              </a:rPr>
              <a:t>2026.07.29　·</a:t>
            </a:r>
            <a:endParaRPr lang="zh-CN" sz="900" dirty="0">
              <a:solidFill>
                <a:srgbClr val="A0A0A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372755" y="6586538"/>
            <a:ext cx="34775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750" dirty="0">
                <a:solidFill>
                  <a:srgbClr val="C3C2B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 / 11</a:t>
            </a:r>
            <a:endParaRPr lang="en-US" sz="750" dirty="0">
              <a:solidFill>
                <a:srgbClr val="C3C2B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Free Design">
  <a:themeElements>
    <a:clrScheme name="Free Design">
      <a:dk1>
        <a:srgbClr val="1A1A1A"/>
      </a:dk1>
      <a:lt1>
        <a:srgbClr val="FFFFFF"/>
      </a:lt1>
      <a:dk2>
        <a:srgbClr val="1A1A1A"/>
      </a:dk2>
      <a:lt2>
        <a:srgbClr val="EEECE1"/>
      </a:lt2>
      <a:accent1>
        <a:srgbClr val="1B2A4A"/>
      </a:accent1>
      <a:accent2>
        <a:srgbClr val="C9A96E"/>
      </a:accent2>
      <a:accent3>
        <a:srgbClr val="C9A96E"/>
      </a:accent3>
      <a:accent4>
        <a:srgbClr val="1B2A4A"/>
      </a:accent4>
      <a:accent5>
        <a:srgbClr val="F5F5F5"/>
      </a:accent5>
      <a:accent6>
        <a:srgbClr val="F79646"/>
      </a:accent6>
      <a:hlink>
        <a:srgbClr val="C9A96E"/>
      </a:hlink>
      <a:folHlink>
        <a:srgbClr val="C9A96E"/>
      </a:folHlink>
    </a:clrScheme>
    <a:fontScheme name="Free Design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4916</Words>
  <Application>WPS 演示</Application>
  <PresentationFormat>On-screen Show (16:9)</PresentationFormat>
  <Paragraphs>358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monospace</vt:lpstr>
      <vt:lpstr>JetBrains Mono</vt:lpstr>
      <vt:lpstr>-apple-system</vt:lpstr>
      <vt:lpstr>Free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WPS_1711293234</cp:lastModifiedBy>
  <cp:revision>4</cp:revision>
  <dcterms:created xsi:type="dcterms:W3CDTF">2026-07-26T16:56:00Z</dcterms:created>
  <dcterms:modified xsi:type="dcterms:W3CDTF">2026-07-27T17:27:27Z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2F0956C6CECC4315855B3277F7925737_12</vt:lpwstr>
  </property>
</Properties>
</file>