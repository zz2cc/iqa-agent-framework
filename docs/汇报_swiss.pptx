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ree Desig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ree Desig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8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0368d3889a6da13.png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3fc6f0b1c0f9d14.png"/>
  <Relationship Id="rId3" Type="http://schemas.openxmlformats.org/officeDocument/2006/relationships/image" Target="../media/image_3e0ba45365d12495.png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0621978baf4fb52.png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2a754a4df2e770e0.png"/>
  <Relationship Id="rId3" Type="http://schemas.openxmlformats.org/officeDocument/2006/relationships/image" Target="../media/image_c77def9e1f797f87.png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9616516ea851d60.png"/>
  <Relationship Id="rId3" Type="http://schemas.openxmlformats.org/officeDocument/2006/relationships/image" Target="../media/image_49181fefb183efe3.png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4953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762000" y="3238500"/>
            <a:ext cx="1143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3618" y="2393632"/>
            <a:ext cx="266204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基于开源多模态大模型的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9046" y="2725102"/>
            <a:ext cx="4163273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图像质量评估 Agent 框架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666" y="3458528"/>
            <a:ext cx="265088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7B8BA8"/>
                </a:solidFill>
                <a:latin typeface="+mn-lt"/>
                <a:ea typeface="+mn-ea"/>
                <a:cs typeface="+mn-cs"/>
              </a:rPr>
              <a:t>Unified Agent Framework for Blind IQA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5142" y="4426268"/>
            <a:ext cx="1522133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张丞 北京邮电大学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7047" y="4800124"/>
            <a:ext cx="271442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57575"/>
                </a:solidFill>
                <a:latin typeface="+mn-lt"/>
                <a:ea typeface="+mn-ea"/>
                <a:cs typeface="+mn-cs"/>
              </a:rPr>
              <a:t>指导教师：何老师　　验收汇报　2026.07.29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428286" y="6586538"/>
            <a:ext cx="29222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C3C2B7"/>
                </a:solidFill>
                <a:latin typeface="Arial"/>
                <a:ea typeface="Arial"/>
                <a:cs typeface="Arial"/>
              </a:rPr>
              <a:t>1 / 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142536" y="6567488"/>
            <a:ext cx="29222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C3C2B7"/>
                </a:solidFill>
                <a:latin typeface="Arial"/>
                <a:ea typeface="Arial"/>
                <a:cs typeface="Arial"/>
              </a:rPr>
              <a:t>2 / 11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57238" y="6567488"/>
            <a:ext cx="21145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A0A0A0"/>
                </a:solidFill>
                <a:latin typeface="+mn-lt"/>
                <a:ea typeface="+mn-ea"/>
                <a:cs typeface="+mn-cs"/>
              </a:rPr>
              <a:t>背景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7238" y="823912"/>
            <a:ext cx="14785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225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我想做什么、有什么限制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2950" y="361950"/>
            <a:ext cx="1437475" cy="17335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0" b="1" dirty="0">
                <a:solidFill>
                  <a:srgbClr val="F0F0ED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3614356" y="795576"/>
            <a:ext cx="10127872" cy="4008025"/>
            <a:chOff x="3614356" y="795576"/>
            <a:chExt cx="10127872" cy="4008025"/>
          </a:xfrm>
        </p:grpSpPr>
        <p:sp>
          <p:nvSpPr>
            <p:cNvPr id="7" name="TextBox 7"/>
            <p:cNvSpPr txBox="1"/>
            <p:nvPr/>
          </p:nvSpPr>
          <p:spPr>
            <a:xfrm>
              <a:off x="3614356" y="795576"/>
              <a:ext cx="5346960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任务是</a:t>
              </a:r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写一个程序，输入一张图，输出一个质量分。但这个程序不能训练图片打分模型——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614356" y="1081326"/>
              <a:ext cx="4896348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只能靠精心设计的提示词（Prompt），让一个现成的多模态大模型来当"评委"。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4356" y="1557576"/>
              <a:ext cx="723627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</a:t>
              </a:r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用的是阿里的 Qwen3-VL-32B（API 调用）。每次调用温度设为零，结果做磁盘缓存——任何实验都能一键复现。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4356" y="2033826"/>
              <a:ext cx="10127872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考卷</a:t>
              </a:r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有两份：KonIQ（两千张网络图片，1-5 分整数）和 SPAQ（一千张手机照片，0-10 分连续）。目标是排名越准越好（SRCC）、分数偏差越小越好（MAE）。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614356" y="2605326"/>
              <a:ext cx="154670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三个硬性限制</a:t>
              </a:r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贯穿全程：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38562" y="2976562"/>
              <a:ext cx="47625" cy="4762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900106" y="2938701"/>
              <a:ext cx="2049780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大模型本身不能训练、不能微调。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3738562" y="3262312"/>
              <a:ext cx="47625" cy="4762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900106" y="3224451"/>
              <a:ext cx="5054633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数据集名称、图片编号、真人分数——这些信息绝对不能出现在给模型的任何输入里。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3738562" y="3548062"/>
              <a:ext cx="47625" cy="4762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900106" y="3510201"/>
              <a:ext cx="3681374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真人分数只能用于最后算一次分，中途不能用来调任何参数。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4356" y="4034076"/>
              <a:ext cx="5476128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这意味着</a:t>
              </a:r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我要让一个完全没训练过的模型给图片打分，但它给的分跟真人的分还得对得上。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14356" y="4319826"/>
              <a:ext cx="629192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唯一的自由度：可以设计一个"路由器"——决定问模型什么问题、多个专家的意见听谁的、怎么解释结果。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4356" y="4605576"/>
              <a:ext cx="4646734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路由器的训练信号从哪来？不能用人打分——于是有了后面的两两比较锦标赛。</a:t>
              </a:r>
            </a:p>
          </p:txBody>
        </p:sp>
      </p:grpSp>
      <p:sp>
        <p:nvSpPr>
          <p:cNvPr id="22" name="Rectangle 22"/>
          <p:cNvSpPr/>
          <p:nvPr/>
        </p:nvSpPr>
        <p:spPr>
          <a:xfrm>
            <a:off x="3619500" y="5000625"/>
            <a:ext cx="7810500" cy="9525"/>
          </a:xfrm>
          <a:prstGeom prst="rect">
            <a:avLst/>
          </a:prstGeom>
          <a:solidFill>
            <a:srgbClr val="E1E0D9"/>
          </a:solidFill>
          <a:ln>
            <a:noFill/>
          </a:ln>
        </p:spPr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142536" y="6567488"/>
            <a:ext cx="29222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C3C2B7"/>
                </a:solidFill>
                <a:latin typeface="Arial"/>
                <a:ea typeface="Arial"/>
                <a:cs typeface="Arial"/>
              </a:rPr>
              <a:t>3 / 11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57238" y="6567488"/>
            <a:ext cx="21145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A0A0A0"/>
                </a:solidFill>
                <a:latin typeface="+mn-lt"/>
                <a:ea typeface="+mn-ea"/>
                <a:cs typeface="+mn-cs"/>
              </a:rPr>
              <a:t>框架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7238" y="823912"/>
            <a:ext cx="18874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225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我的方案：三路并行，门控融合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2950" y="361950"/>
            <a:ext cx="1437475" cy="17335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0" b="1" dirty="0">
                <a:solidFill>
                  <a:srgbClr val="F0F0E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755904" y="1775460"/>
            <a:ext cx="14505626" cy="3542347"/>
            <a:chOff x="755904" y="1775460"/>
            <a:chExt cx="14505626" cy="3542347"/>
          </a:xfrm>
        </p:grpSpPr>
        <p:sp>
          <p:nvSpPr>
            <p:cNvPr id="7" name="TextBox 7"/>
            <p:cNvSpPr txBox="1"/>
            <p:nvPr/>
          </p:nvSpPr>
          <p:spPr>
            <a:xfrm>
              <a:off x="755904" y="1775460"/>
              <a:ext cx="22172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一张图进来，同时走三条路：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143125"/>
              <a:ext cx="2667000" cy="3619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47547" y="2275999"/>
              <a:ext cx="15336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路一：三个专家各评一次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709988" y="2280047"/>
              <a:ext cx="952554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技术质量（看噪点/模糊/压缩痕迹）、整体印象（普通人第一眼感觉）、内容完整性（主体有没有被裁）。三个专家是同一个模型扮演的不同角色——换提示词但不换脑子。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619375"/>
              <a:ext cx="2667000" cy="361950"/>
            </a:xfrm>
            <a:prstGeom prst="rect">
              <a:avLst/>
            </a:prstGeom>
            <a:solidFill>
              <a:srgbClr val="2E3F5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7547" y="2752249"/>
              <a:ext cx="13951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路二：算七个像素特征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09988" y="2756297"/>
              <a:ext cx="11551542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用传统图像处理（OpenCV）提取：画面锐不锐、噪声大不大、色彩丰不丰富、亮不亮、分辨率多大、长宽比多少。最关键的一个：三个专家的评分分歧有多大——这个"分歧度"后来成了门控的最强信号。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095625"/>
              <a:ext cx="2667000" cy="361950"/>
            </a:xfrm>
            <a:prstGeom prst="rect">
              <a:avLst/>
            </a:prstGeom>
            <a:solidFill>
              <a:srgbClr val="3F537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7547" y="3228499"/>
              <a:ext cx="16721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路三：用四句话分别问一遍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709988" y="3232547"/>
              <a:ext cx="766536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同一个意思换四种问法（"这图几分？""请给个总评分数"……），取平均。单次回答有随机波动，四条平均就稳了——这路负责"零点校准"。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67125"/>
              <a:ext cx="10668000" cy="9525"/>
            </a:xfrm>
            <a:prstGeom prst="rect">
              <a:avLst/>
            </a:prstGeom>
            <a:solidFill>
              <a:srgbClr val="E1E0D9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55904" y="3918585"/>
              <a:ext cx="20476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然后：门控矩阵决定听谁的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7047" y="4276249"/>
              <a:ext cx="93371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路由器（唯一可训练的部件，21 个浮点数）根据那七个像素特征，算出三个专家各有多少话语权。比如画面很模糊——"技术专家"话语权拉高，"内容专家"靠边。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7047" y="4657249"/>
              <a:ext cx="79985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三个专家分按话语权加权 = 融合分。融合分与四路投票按比例混合 = 最终分。KonIQ 上融合占六成、投票占四成；SPAQ 上反过来。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7238" y="5141595"/>
              <a:ext cx="70888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57575"/>
                  </a:solidFill>
                  <a:latin typeface="+mn-lt"/>
                  <a:ea typeface="+mn-ea"/>
                  <a:cs typeface="+mn-cs"/>
                </a:rPr>
                <a:t>整个框架从 R1 一步步搭到 R6。中间臂（R4、R5）是验证性产物，最终收敛为同一个骨架，两个数据集只差参数、不差结构。</a:t>
              </a:r>
            </a:p>
          </p:txBody>
        </p:sp>
      </p:grpSp>
      <p:pic>
        <p:nvPicPr>
          <p:cNvPr id="23" name="Im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587" y="5476875"/>
            <a:ext cx="2361825" cy="1095375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142536" y="6567488"/>
            <a:ext cx="29222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C3C2B7"/>
                </a:solidFill>
                <a:latin typeface="Arial"/>
                <a:ea typeface="Arial"/>
                <a:cs typeface="Arial"/>
              </a:rPr>
              <a:t>4 / 11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57238" y="6567488"/>
            <a:ext cx="21145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A0A0A0"/>
                </a:solidFill>
                <a:latin typeface="+mn-lt"/>
                <a:ea typeface="+mn-ea"/>
                <a:cs typeface="+mn-cs"/>
              </a:rPr>
              <a:t>方法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7238" y="823912"/>
            <a:ext cx="79705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225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两个关键技术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2950" y="361950"/>
            <a:ext cx="1437475" cy="17335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0" b="1" dirty="0">
                <a:solidFill>
                  <a:srgbClr val="F0F0E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1857375"/>
            <a:ext cx="5143500" cy="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947166" y="1953578"/>
            <a:ext cx="28603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技术一：让模型"比谁差"而不是"打多少分"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47738" y="2375297"/>
            <a:ext cx="4957348" cy="2088356"/>
            <a:chOff x="947738" y="2375297"/>
            <a:chExt cx="4957348" cy="2088356"/>
          </a:xfrm>
        </p:grpSpPr>
        <p:sp>
          <p:nvSpPr>
            <p:cNvPr id="9" name="TextBox 9"/>
            <p:cNvSpPr txBox="1"/>
            <p:nvPr/>
          </p:nvSpPr>
          <p:spPr>
            <a:xfrm>
              <a:off x="947738" y="2375297"/>
              <a:ext cx="3805809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核心问题：路由器需要训练信号，但真人分数被禁止使用。怎么办？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7738" y="2708672"/>
              <a:ext cx="437568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发现：大模型直接打分很不稳定，但判断"A 和 B 哪张更差"却非常准。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7738" y="3042047"/>
              <a:ext cx="4957348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证据——同一个测试集：让模型直接给手机照片打分，六种失真类型全都没通过质量检验；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7738" y="3280172"/>
              <a:ext cx="422972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换一种问法"这两张哪张画质更好"，准确率跳到 98%——差距将近一个量级。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47738" y="3708797"/>
              <a:ext cx="4470159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做法：在两千五百张训练图上组织了</a:t>
              </a:r>
              <a:r>
                <a:rPr lang="zh-CN" sz="94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三万两千场</a:t>
              </a:r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两两比较，每场问模型谁更好。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7738" y="4042172"/>
              <a:ext cx="4443298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全部胜负记录用一个叫 Bradley-Terry 的数学模型拟合成每张图一个</a:t>
              </a:r>
              <a:r>
                <a:rPr lang="zh-CN" sz="94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强度分</a:t>
              </a:r>
              <a:r>
                <a:rPr lang="en-US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——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7738" y="4280297"/>
              <a:ext cx="3970315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赢得多 = 分高，赢得少 = 分低。这个分就成了训练路由器的监督信号。</a:t>
              </a:r>
            </a:p>
          </p:txBody>
        </p:sp>
      </p:grpSp>
      <p:pic>
        <p:nvPicPr>
          <p:cNvPr id="17" name="Imag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4672810"/>
            <a:ext cx="4572000" cy="1893880"/>
          </a:xfrm>
          <a:prstGeom prst="rect">
            <a:avLst/>
          </a:prstGeom>
        </p:spPr>
      </p:pic>
      <p:sp>
        <p:nvSpPr>
          <p:cNvPr id="18" name="Rectangle 18"/>
          <p:cNvSpPr/>
          <p:nvPr/>
        </p:nvSpPr>
        <p:spPr>
          <a:xfrm>
            <a:off x="6286500" y="1857375"/>
            <a:ext cx="5143500" cy="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6471666" y="1953578"/>
            <a:ext cx="216273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技术二：21 个参数决定"该信谁"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6472238" y="2375297"/>
            <a:ext cx="4723244" cy="2326481"/>
            <a:chOff x="6472238" y="2375297"/>
            <a:chExt cx="4723244" cy="2326481"/>
          </a:xfrm>
        </p:grpSpPr>
        <p:sp>
          <p:nvSpPr>
            <p:cNvPr id="20" name="TextBox 20"/>
            <p:cNvSpPr txBox="1"/>
            <p:nvPr/>
          </p:nvSpPr>
          <p:spPr>
            <a:xfrm>
              <a:off x="6472238" y="2375297"/>
              <a:ext cx="3679266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有了每张图的强度分（谁好谁坏的共识），就可以训练路由器了。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72238" y="2756297"/>
              <a:ext cx="306553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路由器 = 一个 3 行 7 列的矩阵，只有 21 个可调数字。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72238" y="3137297"/>
              <a:ext cx="472324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输入：七个像素特征（清晰度、噪声、色彩、亮度、分辨率、宽高比、</a:t>
              </a:r>
              <a:r>
                <a:rPr lang="zh-CN" sz="94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专家分歧度</a:t>
              </a:r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72238" y="3470672"/>
              <a:ext cx="3008589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输出：三个专家各占多少话语权（加起来等于 100%）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72238" y="3899297"/>
              <a:ext cx="3565378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训练方式：抽两张图，算各自的融合分，跟锦标赛的判断对比——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72238" y="4185047"/>
              <a:ext cx="4535460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如果融合分也认为图 A 好，说明权重对了；如果反了，就调一调 21 个参数。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72238" y="4518422"/>
              <a:ext cx="1600622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800 步，CPU 上几秒收敛。</a:t>
              </a:r>
            </a:p>
          </p:txBody>
        </p:sp>
      </p:grpSp>
      <p:pic>
        <p:nvPicPr>
          <p:cNvPr id="28" name="Image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4590" y="4810125"/>
            <a:ext cx="3967320" cy="180975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6472238" y="6617970"/>
            <a:ext cx="687312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57575"/>
                </a:solidFill>
                <a:latin typeface="+mn-lt"/>
                <a:ea typeface="+mn-ea"/>
                <a:cs typeface="+mn-cs"/>
              </a:rPr>
              <a:t>训练出的矩阵非常可读：分歧度一列权重最大——专家吵架时信技术专家。分辨率/宽高比自动归零（所有图尺寸一样，没信息）。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142536" y="6567488"/>
            <a:ext cx="29222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C3C2B7"/>
                </a:solidFill>
                <a:latin typeface="Arial"/>
                <a:ea typeface="Arial"/>
                <a:cs typeface="Arial"/>
              </a:rPr>
              <a:t>5 / 11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57238" y="6567488"/>
            <a:ext cx="21145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A0A0A0"/>
                </a:solidFill>
                <a:latin typeface="+mn-lt"/>
                <a:ea typeface="+mn-ea"/>
                <a:cs typeface="+mn-cs"/>
              </a:rPr>
              <a:t>结果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7238" y="823912"/>
            <a:ext cx="106965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225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评分在一步步变好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2950" y="361950"/>
            <a:ext cx="1437475" cy="17335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0" b="1" dirty="0">
                <a:solidFill>
                  <a:srgbClr val="F0F0E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762000" y="1762125"/>
            <a:ext cx="6858000" cy="1428750"/>
            <a:chOff x="762000" y="1762125"/>
            <a:chExt cx="6858000" cy="142875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685800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14128" y="1856661"/>
              <a:ext cx="210243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1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配置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675566" y="1856661"/>
              <a:ext cx="554368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1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KonIQ SRCC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932535" y="1856661"/>
              <a:ext cx="516931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1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KonIQ MAE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164690" y="1856661"/>
              <a:ext cx="529121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1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SPAQ SRCC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21497" y="1856661"/>
              <a:ext cx="492007" cy="140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1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SPAQ MAE</a:t>
              </a: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762000" y="2009775"/>
              <a:ext cx="6858000" cy="1181100"/>
              <a:chOff x="762000" y="2009775"/>
              <a:chExt cx="6858000" cy="11811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762000" y="2009775"/>
                <a:ext cx="6858000" cy="228600"/>
              </a:xfrm>
              <a:prstGeom prst="rect">
                <a:avLst/>
              </a:prstGeom>
              <a:solidFill>
                <a:srgbClr val="F8F8F6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945426" y="2094786"/>
                <a:ext cx="1347648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10" dirty="0">
                    <a:solidFill>
                      <a:schemeClr val="dk1"/>
                    </a:solidFill>
                    <a:latin typeface="Arial"/>
                    <a:ea typeface="Microsoft YaHei"/>
                    <a:cs typeface="Arial"/>
                  </a:rPr>
                  <a:t>最初：什么都不加，一句话问分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2816565" y="20947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0.577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054815" y="20947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0.463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5293065" y="20947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0.881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531315" y="20947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0.893</a:t>
                </a: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762000" y="2238375"/>
                <a:ext cx="6858000" cy="2286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1327747" y="2323386"/>
                <a:ext cx="583006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10" dirty="0">
                    <a:solidFill>
                      <a:schemeClr val="dk1"/>
                    </a:solidFill>
                    <a:latin typeface="Arial"/>
                    <a:ea typeface="Microsoft YaHei"/>
                    <a:cs typeface="Arial"/>
                  </a:rPr>
                  <a:t>加上评估细则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2816565" y="23233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0.633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054815" y="23233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0.688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5293065" y="23233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0.867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531315" y="23233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1.042</a:t>
                </a:r>
              </a:p>
            </p:txBody>
          </p:sp>
          <p:sp>
            <p:nvSpPr>
              <p:cNvPr id="25" name="Rectangle 25"/>
              <p:cNvSpPr/>
              <p:nvPr/>
            </p:nvSpPr>
            <p:spPr>
              <a:xfrm>
                <a:off x="762000" y="2466975"/>
                <a:ext cx="6858000" cy="228600"/>
              </a:xfrm>
              <a:prstGeom prst="rect">
                <a:avLst/>
              </a:prstGeom>
              <a:solidFill>
                <a:srgbClr val="F8F8F6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1177208" y="2551986"/>
                <a:ext cx="884084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10" dirty="0">
                    <a:solidFill>
                      <a:schemeClr val="dk1"/>
                    </a:solidFill>
                    <a:latin typeface="Arial"/>
                    <a:ea typeface="Microsoft YaHei"/>
                    <a:cs typeface="Arial"/>
                  </a:rPr>
                  <a:t>五个专家 + 智能分诊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2816565" y="25519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0.619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054815" y="25519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0.533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293065" y="25519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0.860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531315" y="25519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1.014</a:t>
                </a:r>
              </a:p>
            </p:txBody>
          </p:sp>
          <p:sp>
            <p:nvSpPr>
              <p:cNvPr id="31" name="Rectangle 31"/>
              <p:cNvSpPr/>
              <p:nvPr/>
            </p:nvSpPr>
            <p:spPr>
              <a:xfrm>
                <a:off x="762000" y="2695575"/>
                <a:ext cx="6858000" cy="2286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897636" y="2780586"/>
                <a:ext cx="1443228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10" dirty="0">
                    <a:solidFill>
                      <a:schemeClr val="dk1"/>
                    </a:solidFill>
                    <a:latin typeface="Arial"/>
                    <a:ea typeface="Microsoft YaHei"/>
                    <a:cs typeface="Arial"/>
                  </a:rPr>
                  <a:t>路由器用锦标赛训练（关键跳变）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2816565" y="27805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0.668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054815" y="27805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0.554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5293065" y="27805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0.885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531315" y="2780586"/>
                <a:ext cx="272371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</a:rPr>
                  <a:t>0.908</a:t>
                </a: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762000" y="2924175"/>
                <a:ext cx="6858000" cy="266700"/>
              </a:xfrm>
              <a:prstGeom prst="rect">
                <a:avLst/>
              </a:prstGeom>
              <a:solidFill>
                <a:schemeClr val="accent1">
                  <a:alpha val="8000"/>
                </a:schemeClr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1004805" y="3028236"/>
                <a:ext cx="1228889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10" b="1" dirty="0">
                    <a:solidFill>
                      <a:schemeClr val="accent1"/>
                    </a:solidFill>
                    <a:latin typeface="Arial"/>
                    <a:ea typeface="Microsoft YaHei"/>
                    <a:cs typeface="Arial"/>
                  </a:rPr>
                  <a:t>最终：动态门控 + 投票混合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2809994" y="3028236"/>
                <a:ext cx="285513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b="1" dirty="0">
                    <a:solidFill>
                      <a:srgbClr val="2A78D6"/>
                    </a:solidFill>
                    <a:latin typeface="Arial"/>
                    <a:ea typeface="Arial"/>
                    <a:cs typeface="Arial"/>
                  </a:rPr>
                  <a:t>0.734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048244" y="3028236"/>
                <a:ext cx="285513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b="1" dirty="0">
                    <a:solidFill>
                      <a:srgbClr val="2A78D6"/>
                    </a:solidFill>
                    <a:latin typeface="Arial"/>
                    <a:ea typeface="Arial"/>
                    <a:cs typeface="Arial"/>
                  </a:rPr>
                  <a:t>0.491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5286494" y="3028236"/>
                <a:ext cx="285513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b="1" dirty="0">
                    <a:solidFill>
                      <a:srgbClr val="2A78D6"/>
                    </a:solidFill>
                    <a:latin typeface="Arial"/>
                    <a:ea typeface="Arial"/>
                    <a:cs typeface="Arial"/>
                  </a:rPr>
                  <a:t>0.893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524744" y="3028236"/>
                <a:ext cx="285513" cy="1404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710" b="1" dirty="0">
                    <a:solidFill>
                      <a:srgbClr val="2A78D6"/>
                    </a:solidFill>
                    <a:latin typeface="Arial"/>
                    <a:ea typeface="Arial"/>
                    <a:cs typeface="Arial"/>
                  </a:rPr>
                  <a:t>0.945</a:t>
                </a:r>
              </a:p>
            </p:txBody>
          </p:sp>
        </p:grpSp>
      </p:grpSp>
      <p:pic>
        <p:nvPicPr>
          <p:cNvPr id="45" name="Image 4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0" y="1867070"/>
            <a:ext cx="3524250" cy="1409361"/>
          </a:xfrm>
          <a:prstGeom prst="rect">
            <a:avLst/>
          </a:prstGeom>
        </p:spPr>
      </p:pic>
      <p:sp>
        <p:nvSpPr>
          <p:cNvPr id="46" name="Rectangle 46"/>
          <p:cNvSpPr/>
          <p:nvPr/>
        </p:nvSpPr>
        <p:spPr>
          <a:xfrm>
            <a:off x="762000" y="3524250"/>
            <a:ext cx="10668000" cy="28575"/>
          </a:xfrm>
          <a:prstGeom prst="rect">
            <a:avLst/>
          </a:prstGeom>
          <a:solidFill>
            <a:srgbClr val="E1E0D9"/>
          </a:solidFill>
          <a:ln>
            <a:noFill/>
          </a:ln>
        </p:spPr>
      </p:sp>
      <p:grpSp>
        <p:nvGrpSpPr>
          <p:cNvPr id="51" name="Group 51"/>
          <p:cNvGrpSpPr/>
          <p:nvPr/>
        </p:nvGrpSpPr>
        <p:grpSpPr>
          <a:xfrm>
            <a:off x="757047" y="3799999"/>
            <a:ext cx="7364745" cy="1327308"/>
            <a:chOff x="757047" y="3799999"/>
            <a:chExt cx="7364745" cy="1327308"/>
          </a:xfrm>
        </p:grpSpPr>
        <p:sp>
          <p:nvSpPr>
            <p:cNvPr id="47" name="TextBox 47"/>
            <p:cNvSpPr txBox="1"/>
            <p:nvPr/>
          </p:nvSpPr>
          <p:spPr>
            <a:xfrm>
              <a:off x="757047" y="3799999"/>
              <a:ext cx="53701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总提升</a:t>
              </a: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：KonIQ 排名准确率从 0.577 升到 0.734（+27%）｜SPAQ 从 0.881 升到 0.893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7047" y="4180999"/>
              <a:ext cx="68767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最大一跳</a:t>
              </a: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出现在第四行→第五行：监督信号从"人工合成失真"换成"大模型两两比较共识"——同一套代码收益差了近十倍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57047" y="4514374"/>
              <a:ext cx="73647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经验规则无用</a:t>
              </a: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：让 AI 自己提炼"小抄"注入提示词，花 ¥69，排名几乎没动（+0.001）。这件事引出后面的锚相关性定律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7238" y="4951095"/>
              <a:ext cx="49957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57575"/>
                  </a:solidFill>
                  <a:latin typeface="+mn-lt"/>
                  <a:ea typeface="+mn-ea"/>
                  <a:cs typeface="+mn-cs"/>
                </a:rPr>
                <a:t>参考：同一家族 8B 模型在别人论文里的零样本得分是 0.729 — 我不用训练就到了 0.734</a:t>
              </a:r>
            </a:p>
          </p:txBody>
        </p:sp>
      </p:grpSp>
      <p:sp>
        <p:nvSpPr>
          <p:cNvPr id="52" name="Ellipse 52"/>
          <p:cNvSpPr/>
          <p:nvPr/>
        </p:nvSpPr>
        <p:spPr>
          <a:xfrm>
            <a:off x="642938" y="3786188"/>
            <a:ext cx="47625" cy="4762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3" name="Ellipse 53"/>
          <p:cNvSpPr/>
          <p:nvPr/>
        </p:nvSpPr>
        <p:spPr>
          <a:xfrm>
            <a:off x="642938" y="4167188"/>
            <a:ext cx="47625" cy="4762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4" name="Ellipse 54"/>
          <p:cNvSpPr/>
          <p:nvPr/>
        </p:nvSpPr>
        <p:spPr>
          <a:xfrm>
            <a:off x="642938" y="4500562"/>
            <a:ext cx="47625" cy="4762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142536" y="6567488"/>
            <a:ext cx="29222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C3C2B7"/>
                </a:solidFill>
                <a:latin typeface="Arial"/>
                <a:ea typeface="Arial"/>
                <a:cs typeface="Arial"/>
              </a:rPr>
              <a:t>6 / 11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57238" y="6567488"/>
            <a:ext cx="21145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A0A0A0"/>
                </a:solidFill>
                <a:latin typeface="+mn-lt"/>
                <a:ea typeface="+mn-ea"/>
                <a:cs typeface="+mn-cs"/>
              </a:rPr>
              <a:t>检验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7238" y="823912"/>
            <a:ext cx="216008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225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分数靠谱吗？怎么证明不是碰运气？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2950" y="361950"/>
            <a:ext cx="1437475" cy="17335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0" b="1" dirty="0">
                <a:solidFill>
                  <a:srgbClr val="F0F0E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7" name="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6526"/>
            <a:ext cx="5524500" cy="2589699"/>
          </a:xfrm>
          <a:prstGeom prst="rect">
            <a:avLst/>
          </a:prstGeom>
        </p:spPr>
      </p:pic>
      <p:pic>
        <p:nvPicPr>
          <p:cNvPr id="8" name="Imag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427" y="1857375"/>
            <a:ext cx="5123397" cy="3048000"/>
          </a:xfrm>
          <a:prstGeom prst="rect">
            <a:avLst/>
          </a:prstGeom>
        </p:spPr>
      </p:pic>
      <p:grpSp>
        <p:nvGrpSpPr>
          <p:cNvPr id="13" name="Group 13"/>
          <p:cNvGrpSpPr/>
          <p:nvPr/>
        </p:nvGrpSpPr>
        <p:grpSpPr>
          <a:xfrm>
            <a:off x="452438" y="5042297"/>
            <a:ext cx="6614582" cy="1097756"/>
            <a:chOff x="452438" y="5042297"/>
            <a:chExt cx="6614582" cy="1097756"/>
          </a:xfrm>
        </p:grpSpPr>
        <p:sp>
          <p:nvSpPr>
            <p:cNvPr id="9" name="TextBox 9"/>
            <p:cNvSpPr txBox="1"/>
            <p:nvPr/>
          </p:nvSpPr>
          <p:spPr>
            <a:xfrm>
              <a:off x="452438" y="5042297"/>
              <a:ext cx="515981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左图：</a:t>
              </a:r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最终模型打分（纵轴）vs 真人打分（横轴）。每一点是一张图。颜色越深 = 图越多。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52438" y="5308997"/>
              <a:ext cx="6108888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虚线是完全一致的位置。两张考卷的点都贴着虚线走——说明给的分数跟真人基本对应，没有系统性地"偏心"。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52438" y="5689997"/>
              <a:ext cx="569619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右图：</a:t>
              </a:r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最意外的发现。我用大模型（32B）训练的 21 个门控参数，原封不动放到小模型（8B）——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2438" y="5956697"/>
              <a:ext cx="6614582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零额外 API 调用，纯本地矩阵乘法。结果：小模型的排名准确率从 0.759 跳到 0.776，甚至超过了大模型自己。</a:t>
              </a:r>
            </a:p>
          </p:txBody>
        </p:sp>
      </p:grpSp>
      <p:sp>
        <p:nvSpPr>
          <p:cNvPr id="14" name="Rectangle 14"/>
          <p:cNvSpPr/>
          <p:nvPr/>
        </p:nvSpPr>
        <p:spPr>
          <a:xfrm>
            <a:off x="457200" y="6286500"/>
            <a:ext cx="11277600" cy="19050"/>
          </a:xfrm>
          <a:prstGeom prst="rect">
            <a:avLst/>
          </a:prstGeom>
          <a:solidFill>
            <a:srgbClr val="E1E0D9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452247" y="6419374"/>
            <a:ext cx="654823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门控学到的不是某个特定模型的评分习惯，而是"什么样的图像特征该信哪个专家"——因此可以跨模型迁移。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142536" y="6567488"/>
            <a:ext cx="29222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C3C2B7"/>
                </a:solidFill>
                <a:latin typeface="Arial"/>
                <a:ea typeface="Arial"/>
                <a:cs typeface="Arial"/>
              </a:rPr>
              <a:t>7 / 11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57238" y="6567488"/>
            <a:ext cx="21145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A0A0A0"/>
                </a:solidFill>
                <a:latin typeface="+mn-lt"/>
                <a:ea typeface="+mn-ea"/>
                <a:cs typeface="+mn-cs"/>
              </a:rPr>
              <a:t>发现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7238" y="823912"/>
            <a:ext cx="93335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225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最反直觉的发现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2950" y="361950"/>
            <a:ext cx="1437475" cy="17335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0" b="1" dirty="0">
                <a:solidFill>
                  <a:srgbClr val="F0F0E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4380" y="1647825"/>
            <a:ext cx="467982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给模型的提示词写得越详细，分数偏差反而越大。</a:t>
            </a:r>
          </a:p>
        </p:txBody>
      </p:sp>
      <p:sp>
        <p:nvSpPr>
          <p:cNvPr id="8" name="Rectangle 8"/>
          <p:cNvSpPr/>
          <p:nvPr/>
        </p:nvSpPr>
        <p:spPr>
          <a:xfrm>
            <a:off x="762000" y="1952625"/>
            <a:ext cx="3810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757047" y="2180749"/>
            <a:ext cx="386219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57575"/>
                </a:solidFill>
                <a:latin typeface="+mn-lt"/>
                <a:ea typeface="+mn-ea"/>
                <a:cs typeface="+mn-cs"/>
              </a:rPr>
              <a:t>这跟直觉完全相反——通常会认为"指导得越具体，模型答得越准"。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57238" y="2613422"/>
            <a:ext cx="7070613" cy="2780585"/>
            <a:chOff x="757238" y="2613422"/>
            <a:chExt cx="7070613" cy="2780585"/>
          </a:xfrm>
        </p:grpSpPr>
        <p:sp>
          <p:nvSpPr>
            <p:cNvPr id="10" name="TextBox 10"/>
            <p:cNvSpPr txBox="1"/>
            <p:nvPr/>
          </p:nvSpPr>
          <p:spPr>
            <a:xfrm>
              <a:off x="757238" y="2613422"/>
              <a:ext cx="160396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一个消融实验揭示了原因：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238" y="2899172"/>
              <a:ext cx="707061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我把提示词一层一层加回去——先加"你是一个评估专家"的人设，再加"1=差 5=好"的锚点带，再加具体的检查清单和评估程序。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238" y="3232547"/>
              <a:ext cx="3869080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每加一层，排名准确率维持在差不多的水平——但</a:t>
              </a:r>
              <a:r>
                <a:rPr lang="zh-CN" sz="94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分数偏差越来越大</a:t>
              </a:r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238" y="3565922"/>
              <a:ext cx="408135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分析：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238" y="3851672"/>
              <a:ext cx="533697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大模型对哪张比哪张好的判断（排名）本来就挺准。加了锚点带后，排名知识被注入——保住了。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238" y="4185047"/>
              <a:ext cx="4339040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但锚点带同时把人造的分数区间（"Excellent 就是 4.3-5.0"）塞给了模型，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238" y="4470797"/>
              <a:ext cx="3957660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模型本来的"这张图在人群里大概值几分"的直觉被覆盖了——零点偏了。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238" y="4899422"/>
              <a:ext cx="5184809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更重要的：这不是 bug。排序和绝对校准是两种独立的能力，需要两个独立通道来完成。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238" y="5217795"/>
              <a:ext cx="37775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57575"/>
                  </a:solidFill>
                  <a:latin typeface="+mn-lt"/>
                  <a:ea typeface="+mn-ea"/>
                  <a:cs typeface="+mn-cs"/>
                </a:rPr>
                <a:t>所以我在最终方案里让锚点负责排序、裸问投票负责零点——各干各的。</a:t>
              </a:r>
            </a:p>
          </p:txBody>
        </p:sp>
      </p:grpSp>
      <p:pic>
        <p:nvPicPr>
          <p:cNvPr id="20" name="Im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2342" y="2095500"/>
            <a:ext cx="5450816" cy="2286000"/>
          </a:xfrm>
          <a:prstGeom prst="rect">
            <a:avLst/>
          </a:prstGeom>
        </p:spPr>
      </p:pic>
      <p:pic>
        <p:nvPicPr>
          <p:cNvPr id="21" name="Imag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577" y="4524375"/>
            <a:ext cx="4938346" cy="20955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5900738" y="4356259"/>
            <a:ext cx="2587198" cy="1333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80" dirty="0">
                <a:solidFill>
                  <a:srgbClr val="A0A0A0"/>
                </a:solidFill>
                <a:latin typeface="+mn-lt"/>
                <a:ea typeface="+mn-ea"/>
                <a:cs typeface="+mn-cs"/>
              </a:rPr>
              <a:t>左：SRCC 持平、MAE 恶化　右：锚点把输出分布重塑成尖峰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142536" y="6567488"/>
            <a:ext cx="29222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C3C2B7"/>
                </a:solidFill>
                <a:latin typeface="Arial"/>
                <a:ea typeface="Arial"/>
                <a:cs typeface="Arial"/>
              </a:rPr>
              <a:t>8 / 11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57238" y="6567488"/>
            <a:ext cx="21145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A0A0A0"/>
                </a:solidFill>
                <a:latin typeface="+mn-lt"/>
                <a:ea typeface="+mn-ea"/>
                <a:cs typeface="+mn-cs"/>
              </a:rPr>
              <a:t>发现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7238" y="823912"/>
            <a:ext cx="106965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225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另外三个关键发现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285875"/>
            <a:ext cx="3429000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946404" y="1451610"/>
            <a:ext cx="136916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锚点扮演双重角色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47738" y="1998345"/>
            <a:ext cx="7588072" cy="1938337"/>
            <a:chOff x="947738" y="1998345"/>
            <a:chExt cx="7588072" cy="1938337"/>
          </a:xfrm>
        </p:grpSpPr>
        <p:sp>
          <p:nvSpPr>
            <p:cNvPr id="8" name="TextBox 8"/>
            <p:cNvSpPr txBox="1"/>
            <p:nvPr/>
          </p:nvSpPr>
          <p:spPr>
            <a:xfrm>
              <a:off x="947738" y="1998345"/>
              <a:ext cx="20692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同一组件，在不同地方作用完全相反。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47738" y="2379345"/>
              <a:ext cx="10272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单独使用时：有害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7738" y="2646045"/>
              <a:ext cx="308693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一支笔打分，带上锚点后偏差反而从 0.463 升到 0.544。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7738" y="3027045"/>
              <a:ext cx="12816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多专家协作时：必需品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7738" y="3293745"/>
              <a:ext cx="758807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去掉锚点后，三支笔的刻度不统一——技术专家天然比整体专家严两个等级。融合器分不清图间差异，SPAQ 偏差从 0.945 崩到 1.208。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47738" y="3760470"/>
              <a:ext cx="26871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57575"/>
                  </a:solidFill>
                  <a:latin typeface="+mn-lt"/>
                  <a:ea typeface="+mn-ea"/>
                  <a:cs typeface="+mn-cs"/>
                </a:rPr>
                <a:t>锚点是专家间的"公共度量衡"，没有它各说各话。</a:t>
              </a:r>
            </a:p>
          </p:txBody>
        </p:sp>
      </p:grpSp>
      <p:sp>
        <p:nvSpPr>
          <p:cNvPr id="15" name="Rectangle 15"/>
          <p:cNvSpPr/>
          <p:nvPr/>
        </p:nvSpPr>
        <p:spPr>
          <a:xfrm>
            <a:off x="4381500" y="1285875"/>
            <a:ext cx="3429000" cy="457200"/>
          </a:xfrm>
          <a:prstGeom prst="rect">
            <a:avLst/>
          </a:prstGeom>
          <a:solidFill>
            <a:srgbClr val="2E3F5E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4565904" y="1451610"/>
            <a:ext cx="170840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自进化规则库完全没用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4567238" y="1998345"/>
            <a:ext cx="5582793" cy="1700212"/>
            <a:chOff x="4567238" y="1998345"/>
            <a:chExt cx="5582793" cy="1700212"/>
          </a:xfrm>
        </p:grpSpPr>
        <p:sp>
          <p:nvSpPr>
            <p:cNvPr id="17" name="TextBox 17"/>
            <p:cNvSpPr txBox="1"/>
            <p:nvPr/>
          </p:nvSpPr>
          <p:spPr>
            <a:xfrm>
              <a:off x="4567238" y="1998345"/>
              <a:ext cx="39460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设计思路：让 AI 发现自己的打分矛盾 → 提炼成规则 → 带着规则再打。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67238" y="2379345"/>
              <a:ext cx="450448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实际情况：内部指标全面改善——两种评分路线更一致了、对合成失真的排序更准了。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67238" y="2760345"/>
              <a:ext cx="269146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外部评分：SRCC 只多 0.001 — 花 ¥69 换来的。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7238" y="3188970"/>
              <a:ext cx="117355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教训：自洽 ≠ 对齐。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7238" y="3522345"/>
              <a:ext cx="558279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57575"/>
                  </a:solidFill>
                  <a:latin typeface="+mn-lt"/>
                  <a:ea typeface="+mn-ea"/>
                  <a:cs typeface="+mn-cs"/>
                </a:rPr>
                <a:t>训练的优化方向（让模型自洽）跟最终目标（跟人类对齐）不是一回事。这个失败催生了锚相关性定律。</a:t>
              </a:r>
            </a:p>
          </p:txBody>
        </p:sp>
      </p:grpSp>
      <p:sp>
        <p:nvSpPr>
          <p:cNvPr id="23" name="Rectangle 23"/>
          <p:cNvSpPr/>
          <p:nvPr/>
        </p:nvSpPr>
        <p:spPr>
          <a:xfrm>
            <a:off x="8001000" y="1285875"/>
            <a:ext cx="3429000" cy="457200"/>
          </a:xfrm>
          <a:prstGeom prst="rect">
            <a:avLst/>
          </a:prstGeom>
          <a:solidFill>
            <a:srgbClr val="3F5373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185404" y="1451610"/>
            <a:ext cx="170840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分数偏差无法根本消除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8186738" y="1998345"/>
            <a:ext cx="5220873" cy="2033587"/>
            <a:chOff x="8186738" y="1998345"/>
            <a:chExt cx="5220873" cy="2033587"/>
          </a:xfrm>
        </p:grpSpPr>
        <p:sp>
          <p:nvSpPr>
            <p:cNvPr id="25" name="TextBox 25"/>
            <p:cNvSpPr txBox="1"/>
            <p:nvPr/>
          </p:nvSpPr>
          <p:spPr>
            <a:xfrm>
              <a:off x="8186738" y="1998345"/>
              <a:ext cx="42470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三轮实验下来，所有方法对 KonIQ 都"给分偏高"、对 SPAQ 都"给分偏低"。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186738" y="2379345"/>
              <a:ext cx="3911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原因：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86738" y="2646045"/>
              <a:ext cx="45408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模型看野生网图天然宽容（+0.2~0.6 分），看手机照片天然挑剔（−0.4~0.6 分）。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86738" y="3027045"/>
              <a:ext cx="42561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这种"内容依赖的偏见"幅度约 19 个百分点——真人只有 6 个百分点，差了三倍。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86738" y="3427095"/>
              <a:ext cx="474680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纠正它需要知道真人的平均分——但真人分被规则禁止用于调参。这是个原则性的天花板。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86738" y="3855720"/>
              <a:ext cx="52208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57575"/>
                  </a:solidFill>
                  <a:latin typeface="+mn-lt"/>
                  <a:ea typeface="+mn-ea"/>
                  <a:cs typeface="+mn-cs"/>
                </a:rPr>
                <a:t>好消息是排名不受影响——KonIQ 排名准确率从 0.577 涨到 0.734，说明"谁比谁好"判断对了。</a:t>
              </a:r>
            </a:p>
          </p:txBody>
        </p:sp>
      </p:grpSp>
      <p:sp>
        <p:nvSpPr>
          <p:cNvPr id="32" name="Rectangle 32"/>
          <p:cNvSpPr/>
          <p:nvPr/>
        </p:nvSpPr>
        <p:spPr>
          <a:xfrm>
            <a:off x="762000" y="4619625"/>
            <a:ext cx="10668000" cy="28575"/>
          </a:xfrm>
          <a:prstGeom prst="rect">
            <a:avLst/>
          </a:prstGeom>
          <a:solidFill>
            <a:srgbClr val="E1E0D9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756285" y="4974431"/>
            <a:ext cx="19111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三条线索指向同一个结论：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6666" y="5363528"/>
            <a:ext cx="727141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零训练自监督 IQA 的上限，由你用来监督模型的信号跟真实目标的相关性决定——而不是模型本身的能力。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7238" y="5760720"/>
            <a:ext cx="412889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57575"/>
                </a:solidFill>
                <a:latin typeface="+mn-lt"/>
                <a:ea typeface="+mn-ea"/>
                <a:cs typeface="+mn-cs"/>
              </a:rPr>
              <a:t>下一轮我们用预注册实验定量验证了这个命题，再下一轮用它做最大化放大。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142536" y="6567488"/>
            <a:ext cx="29222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5A6A85"/>
                </a:solidFill>
                <a:latin typeface="Arial"/>
                <a:ea typeface="Arial"/>
                <a:cs typeface="Arial"/>
              </a:rPr>
              <a:t>9 / 11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42594" y="599122"/>
            <a:ext cx="3603060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锚相关性定律：三轮完整闭合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47166" y="1029652"/>
            <a:ext cx="49791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7B8BA8"/>
                </a:solidFill>
                <a:latin typeface="+mn-lt"/>
                <a:ea typeface="+mn-ea"/>
                <a:cs typeface="+mn-cs"/>
              </a:rPr>
              <a:t>从一个失败实验到一条可验证的定律，再到跨模型泛化 — 贯穿全项目的核心线索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524000"/>
            <a:ext cx="10668000" cy="1333500"/>
          </a:xfrm>
          <a:prstGeom prst="rect">
            <a:avLst/>
          </a:prstGeom>
          <a:solidFill>
            <a:srgbClr val="21365A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762000" y="1524000"/>
            <a:ext cx="57150" cy="133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135380" y="1695450"/>
            <a:ext cx="131920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第一轮 · 发现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37666" y="2029778"/>
            <a:ext cx="51346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我们花 ¥69 训练了一个自进化规则库，内部指标全在改善，但最终评分几乎没变。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38047" y="2323624"/>
            <a:ext cx="779363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C3C2B7"/>
                </a:solidFill>
                <a:latin typeface="+mn-lt"/>
                <a:ea typeface="+mn-ea"/>
                <a:cs typeface="+mn-cs"/>
              </a:rPr>
              <a:t>原因：规则库的优化目标（让模型自洽）跟最终目标（跟人类评分对齐）不是一回事。同时发现让五个同源专家互相加权也几乎没用。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8047" y="2609374"/>
            <a:ext cx="57949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C3C2B7"/>
                </a:solidFill>
                <a:latin typeface="+mn-lt"/>
                <a:ea typeface="+mn-ea"/>
                <a:cs typeface="+mn-cs"/>
              </a:rPr>
              <a:t>→ 提出假设：自监督的上限不由模型能力决定，而由你用来监督它的信号跟真实目标的相关性决定。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3048000"/>
            <a:ext cx="10668000" cy="1333500"/>
          </a:xfrm>
          <a:prstGeom prst="rect">
            <a:avLst/>
          </a:prstGeom>
          <a:solidFill>
            <a:srgbClr val="21365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762000" y="3048000"/>
            <a:ext cx="57150" cy="133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1135380" y="3219450"/>
            <a:ext cx="131920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第二轮 · 验证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7666" y="3553778"/>
            <a:ext cx="583432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关键实验：同一套融合代码，只把监督信号从"合成失真排序"换成"大模型两两比较的排序"，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37666" y="3839528"/>
            <a:ext cx="476712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收益从 +0.007 跳到 +0.062 — 近十倍。同一机制、同一代码、仅信号不同。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38047" y="4133374"/>
            <a:ext cx="467964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C3C2B7"/>
                </a:solidFill>
                <a:latin typeface="+mn-lt"/>
                <a:ea typeface="+mn-ea"/>
                <a:cs typeface="+mn-cs"/>
              </a:rPr>
              <a:t>→ 假设升级为可定量验证的定律。写进预注册文档，冻结后再读 MOS 检验。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62000" y="4572000"/>
            <a:ext cx="10668000" cy="1428750"/>
          </a:xfrm>
          <a:prstGeom prst="rect">
            <a:avLst/>
          </a:prstGeom>
          <a:solidFill>
            <a:srgbClr val="21365A"/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762000" y="4572000"/>
            <a:ext cx="57150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135380" y="4743450"/>
            <a:ext cx="262316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第三轮 · 放大 + 跨模型迁移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37666" y="5077778"/>
            <a:ext cx="54809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锦标赛从几千场扩到三万二千场；用 21 个参数的门控矩阵逐图为三个专家分配话语权；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37666" y="5363528"/>
            <a:ext cx="429360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训练出的矩阵套到另一个模型上 — 零额外调用 — 排序能力反超原主。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38047" y="5704999"/>
            <a:ext cx="328830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C3C2B7"/>
                </a:solidFill>
                <a:latin typeface="+mn-lt"/>
                <a:ea typeface="+mn-ea"/>
                <a:cs typeface="+mn-cs"/>
              </a:rPr>
              <a:t>→ 定律的去模型依赖性被实证：信号质量高于模型规模。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11087005" y="6567488"/>
            <a:ext cx="34775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5A6A85"/>
                </a:solidFill>
                <a:latin typeface="Arial"/>
                <a:ea typeface="Arial"/>
                <a:cs typeface="Arial"/>
              </a:rPr>
              <a:t>10 / 11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41832" y="535305"/>
            <a:ext cx="615010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结论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130808" y="1122045"/>
            <a:ext cx="12567671" cy="3964019"/>
            <a:chOff x="1130808" y="1122045"/>
            <a:chExt cx="12567671" cy="3964019"/>
          </a:xfrm>
        </p:grpSpPr>
        <p:sp>
          <p:nvSpPr>
            <p:cNvPr id="5" name="TextBox 5"/>
            <p:cNvSpPr txBox="1"/>
            <p:nvPr/>
          </p:nvSpPr>
          <p:spPr>
            <a:xfrm>
              <a:off x="1130808" y="1122045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707642" y="1235392"/>
              <a:ext cx="44312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统一框架 — 两数据集、两个模型规模，走同一套代码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709547" y="1561624"/>
              <a:ext cx="7547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C3C2B7"/>
                  </a:solidFill>
                  <a:latin typeface="+mn-lt"/>
                  <a:ea typeface="+mn-ea"/>
                  <a:cs typeface="+mn-cs"/>
                </a:rPr>
                <a:t>主干大模型全程不训练，调一次参数就永久缓存，任何实验结果一键复现。唯一被训练的组件是 Router 层一个 21 参数的矩阵。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30808" y="2169795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07642" y="2283142"/>
              <a:ext cx="47922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BT 锦标赛 + 门控矩阵 — 让大模型自己教自己怎么路由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09547" y="2609374"/>
              <a:ext cx="97065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C3C2B7"/>
                  </a:solidFill>
                  <a:latin typeface="+mn-lt"/>
                  <a:ea typeface="+mn-ea"/>
                  <a:cs typeface="+mn-cs"/>
                </a:rPr>
                <a:t>三万余场两两比较把"哪些图更差"的共识蒸馏成监督信号；21 个参数的门控学会按图像特征决定信任哪个专家。矩阵高度可读、可跨模型迁移、零新增调用反超原主。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30808" y="3312795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7642" y="3426142"/>
              <a:ext cx="42404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三项可证伪的发现 — 负面结果与正面结果同等记录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09547" y="3752374"/>
              <a:ext cx="101023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C3C2B7"/>
                  </a:solidFill>
                  <a:latin typeface="+mn-lt"/>
                  <a:ea typeface="+mn-ea"/>
                  <a:cs typeface="+mn-cs"/>
                </a:rPr>
                <a:t>提示词加得越多、绝对误差越大（排序与校准可分离）· 锚点在单问中是成本、在融合中是必需品（双重角色）· 自进化规则库花 ¥69 换来接近零的外部收益（自洽≠对齐）。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0808" y="4455795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07642" y="4569142"/>
              <a:ext cx="40496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锚相关性定律 — 从失败到跨模型验证的完整闭环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9547" y="4895374"/>
              <a:ext cx="119889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C3C2B7"/>
                  </a:solidFill>
                  <a:latin typeface="+mn-lt"/>
                  <a:ea typeface="+mn-ea"/>
                  <a:cs typeface="+mn-cs"/>
                </a:rPr>
                <a:t>发现（一）：+0.001 零收益证伪"自洽驱动改进" → 验证（二）：同机制换信号从 +0.007 跃至 +0.062 → 放大（三）：三万余场对决 + 逐图动态门控推动主指标跃升 → 跨模型迁移确认定律不依赖特定模型。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7429500" y="0"/>
            <a:ext cx="47625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762000" y="3238500"/>
            <a:ext cx="76200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8284" y="2185035"/>
            <a:ext cx="2317318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谢谢各位老师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5142" y="2807018"/>
            <a:ext cx="92240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757575"/>
                </a:solidFill>
                <a:latin typeface="+mn-lt"/>
                <a:ea typeface="+mn-ea"/>
                <a:cs typeface="+mn-cs"/>
              </a:rPr>
              <a:t>请批评指正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3783806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张丞　北京邮电大学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7238" y="4141470"/>
            <a:ext cx="195411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A0A0A0"/>
                </a:solidFill>
                <a:latin typeface="+mn-lt"/>
                <a:ea typeface="+mn-ea"/>
                <a:cs typeface="+mn-cs"/>
              </a:rPr>
              <a:t>2026.07.29　·　材料与代码见附件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372755" y="6586538"/>
            <a:ext cx="34775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750" dirty="0">
                <a:solidFill>
                  <a:srgbClr val="C3C2B7"/>
                </a:solidFill>
                <a:latin typeface="Arial"/>
                <a:ea typeface="Arial"/>
                <a:cs typeface="Arial"/>
              </a:rPr>
              <a:t>11 / 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Free Design">
  <a:themeElements>
    <a:clrScheme name="Free Design">
      <a:dk1>
        <a:srgbClr val="1A1A1A"/>
      </a:dk1>
      <a:lt1>
        <a:srgbClr val="FFFFFF"/>
      </a:lt1>
      <a:dk2>
        <a:srgbClr val="1A1A1A"/>
      </a:dk2>
      <a:lt2>
        <a:srgbClr val="EEECE1"/>
      </a:lt2>
      <a:accent1>
        <a:srgbClr val="1B2A4A"/>
      </a:accent1>
      <a:accent2>
        <a:srgbClr val="C9A96E"/>
      </a:accent2>
      <a:accent3>
        <a:srgbClr val="C9A96E"/>
      </a:accent3>
      <a:accent4>
        <a:srgbClr val="1B2A4A"/>
      </a:accent4>
      <a:accent5>
        <a:srgbClr val="F5F5F5"/>
      </a:accent5>
      <a:accent6>
        <a:srgbClr val="F79646"/>
      </a:accent6>
      <a:hlink>
        <a:srgbClr val="C9A96E"/>
      </a:hlink>
      <a:folHlink>
        <a:srgbClr val="C9A96E"/>
      </a:folHlink>
    </a:clrScheme>
    <a:fontScheme name="Free Design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ree Desig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2026-07-26T16:56:10Z</dcterms:created>
  <dcterms:modified xsi:type="dcterms:W3CDTF">2026-07-26T16:56:10Z</dcterms:modified>
  <cp:category/>
  <cp:contentStatus/>
</cp:coreProperties>
</file>