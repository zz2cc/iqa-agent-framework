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21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2560320"/>
            <a:ext cx="1645920" cy="914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FFFFFF"/>
                </a:solidFill>
                <a:latin typeface="Microsoft YaHei"/>
              </a:rPr>
              <a:t>基于开源多模态大模型的</a:t>
            </a:r>
          </a:p>
          <a:p>
            <a:r>
              <a:rPr sz="3600" b="1">
                <a:solidFill>
                  <a:srgbClr val="FFFFFF"/>
                </a:solidFill>
                <a:latin typeface="Microsoft YaHei"/>
              </a:rPr>
              <a:t>图像质量评估 Agent 框架</a:t>
            </a:r>
          </a:p>
          <a:p>
            <a:pPr>
              <a:spcAft>
                <a:spcPts val="1500"/>
              </a:spcAft>
            </a:pPr>
          </a:p>
          <a:p>
            <a:r>
              <a:rPr sz="1500">
                <a:solidFill>
                  <a:srgbClr val="C9A96E"/>
                </a:solidFill>
                <a:latin typeface="Arial"/>
              </a:rPr>
              <a:t>Unified Agent Framework for Blind IQA</a:t>
            </a:r>
          </a:p>
          <a:p>
            <a:pPr>
              <a:spcAft>
                <a:spcPts val="2500"/>
              </a:spcAft>
            </a:pPr>
          </a:p>
          <a:p>
            <a:r>
              <a:rPr sz="1800">
                <a:solidFill>
                  <a:srgbClr val="FFFFFF"/>
                </a:solidFill>
                <a:latin typeface="Microsoft YaHei"/>
              </a:rPr>
              <a:t>张丞  ·  北京邮电大学</a:t>
            </a:r>
          </a:p>
          <a:p>
            <a:r>
              <a:rPr sz="1300">
                <a:solidFill>
                  <a:srgbClr val="888888"/>
                </a:solidFill>
                <a:latin typeface="Microsoft YaHei"/>
              </a:rPr>
              <a:t>指导教师：何老师    验收汇报  ·  2026.07.29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2/11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59595"/>
                </a:solidFill>
                <a:latin typeface="Microsoft YaHei"/>
              </a:rPr>
              <a:t>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84632"/>
            <a:ext cx="54864" cy="43891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A4A"/>
                </a:solidFill>
                <a:latin typeface="Microsoft YaHei"/>
              </a:rPr>
              <a:t>任务与硬约束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50">
                <a:solidFill>
                  <a:srgbClr val="1A1A1A"/>
                </a:solidFill>
                <a:latin typeface="Microsoft YaHei"/>
              </a:rPr>
              <a:t>任务：构建通用 IQA Agent 框架 —— Backbone 零训练，仅通过 Skill（Prompt）挖掘大模型质量评估能力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50">
                <a:solidFill>
                  <a:srgbClr val="1A1A1A"/>
                </a:solidFill>
                <a:latin typeface="Microsoft YaHei"/>
              </a:rPr>
              <a:t>主干：Qwen3-VL-32b-instruct（DashScope API）· 温度 = 0 · 全流程 SHA256 磁盘缓存可复现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50">
                <a:solidFill>
                  <a:srgbClr val="1A1A1A"/>
                </a:solidFill>
                <a:latin typeface="Microsoft YaHei"/>
              </a:rPr>
              <a:t>评测：KonIQ-10k Val 2,015 张（1–5 整数 MOS）· SPAQ Test 1,125 张（0–10 连续 MOS）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50">
                <a:solidFill>
                  <a:srgbClr val="1A1A1A"/>
                </a:solidFill>
                <a:latin typeface="Microsoft YaHei"/>
              </a:rPr>
              <a:t>合规红线（任务书 §4.1–§4.5）：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50">
                <a:solidFill>
                  <a:srgbClr val="1A1A1A"/>
                </a:solidFill>
                <a:latin typeface="Microsoft YaHei"/>
              </a:rPr>
              <a:t>  → 数据集名 / Image ID / MOS / 失真类型等级 / 划分信息 — 一律不进入 Router/LLM/Skill 线上输入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50">
                <a:solidFill>
                  <a:srgbClr val="1A1A1A"/>
                </a:solidFill>
                <a:latin typeface="Microsoft YaHei"/>
              </a:rPr>
              <a:t>  → MOS 仅用于离线评测与误差分析 —— 全程每轮末各读一次，均在预注册文档冻结后执行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50">
                <a:solidFill>
                  <a:srgbClr val="1A1A1A"/>
                </a:solidFill>
                <a:latin typeface="Microsoft YaHei"/>
              </a:rPr>
              <a:t>  → 仅 Router/Decision 层可训练（3 项职能：规则选择 · 冲突裁决 · 解释生成）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50">
                <a:solidFill>
                  <a:srgbClr val="757575"/>
                </a:solidFill>
                <a:latin typeface="Microsoft YaHei"/>
              </a:rPr>
              <a:t>监督信号全部来自训练集像素自衍生（合成失真阶梯 + 两两比较 BT 锦标赛）— 零 MOS 接触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3/11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59595"/>
                </a:solidFill>
                <a:latin typeface="Microsoft YaHei"/>
              </a:rPr>
              <a:t>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84632"/>
            <a:ext cx="54864" cy="43891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A4A"/>
                </a:solidFill>
                <a:latin typeface="Microsoft YaHei"/>
              </a:rPr>
              <a:t>统一框架总览：一张图，三路并行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5836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三路并行输入：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  ① 技能专家并行评分（S-TECH / S-GLOBAL / S-CONTENT）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  ② 像素统计特征 F（7 维 OpenCV：清晰度/噪声/色彩/亮度/分辨率/宽高比/分歧度）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  ③ 裸问释义投票（4 条同义问法取均值 —— 承担零点校准）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门控矩阵 W(3×7)：BT 锦标赛离线训练 → 冻结后纯矩阵乘法推理 → 输出动态话语权 g = softmax(W·F)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融合分 s_fus = g · s（三专家分加权内积）；投票分 s_vote = mean（4 条释义 + 裸问原句）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最终分 = α · s_fus + (1−α) · s_vote  —— KonIQ α=0.6 / SPAQ α=0.3（小店扫描）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R1→R2→R3 搭建三路，R4→R5 预注册验证，R6 统一收敛 —— 两数据集仅参数不同</a:t>
            </a:r>
          </a:p>
        </p:txBody>
      </p:sp>
      <p:pic>
        <p:nvPicPr>
          <p:cNvPr id="9" name="Picture 8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17320"/>
            <a:ext cx="4572000" cy="21204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4/11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59595"/>
                </a:solidFill>
                <a:latin typeface="Microsoft YaHei"/>
              </a:rPr>
              <a:t>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84632"/>
            <a:ext cx="54864" cy="43891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A4A"/>
                </a:solidFill>
                <a:latin typeface="Microsoft YaHei"/>
              </a:rPr>
              <a:t>核心方法：BT 锦标赛自监督 + 门控矩阵训练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监督信号难题：路由需训练信号，但人群分被 §4.4 禁止 → 答案：两两比较锦标赛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科学依据：VLM 绝对评分噪声 ‖ 两两比较能力（SPAQ梯子：绝对值全FAIL ‖ 比较0.98/0.88）— 量级差距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组织：2,500 张 KonIQ Train 图 → 32,389 场两两比较 → Bradley-Terry 凸优化 → 每图一标量强度分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本质：把大模型内部自发的质量排序能力蒸馏成训练信号 —— 零人工标签、不依赖任何 MOS</a:t>
            </a:r>
          </a:p>
        </p:txBody>
      </p:sp>
      <p:pic>
        <p:nvPicPr>
          <p:cNvPr id="8" name="Picture 7" descr="fig2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703320"/>
            <a:ext cx="5394960" cy="22347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280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门控训练：W(3×7) 从零初始化 → 每步 128 对图 → 解析梯度 SGD → 800 步 CPU 数秒收敛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损失 = −log σ(s_fus_A − s_fus_B)：最小化成对铰链损失，优化方向 = 满足 BT 偏好顺序</a:t>
            </a:r>
          </a:p>
        </p:txBody>
      </p:sp>
      <p:pic>
        <p:nvPicPr>
          <p:cNvPr id="10" name="Picture 9" descr="fig3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017520"/>
            <a:ext cx="5303520" cy="24192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1206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C9A96E"/>
                </a:solidFill>
                <a:latin typeface="Microsoft YaHei"/>
              </a:rPr>
              <a:t>训练后 W 高度可读：分歧度列权重绝对值最大（TECH +0.89 / CONTENT −0.84）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757575"/>
                </a:solidFill>
                <a:latin typeface="Microsoft YaHei"/>
              </a:rPr>
              <a:t>→ 专家意见不一致时，门控把话语权交给技术专家；logpix/aspect权重自动归零（尺寸恒定无信息）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1A1A1A"/>
                </a:solidFill>
                <a:latin typeface="Microsoft YaHei"/>
              </a:rPr>
              <a:t>留出 2,000 对检验：动态融合一致率 80.9% vs 等权 78.0%（+2.9 pp）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5/11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59595"/>
                </a:solidFill>
                <a:latin typeface="Microsoft YaHei"/>
              </a:rPr>
              <a:t>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84632"/>
            <a:ext cx="54864" cy="43891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A4A"/>
                </a:solidFill>
                <a:latin typeface="Microsoft YaHei"/>
              </a:rPr>
              <a:t>三轮综合主表与逐臂趋势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76809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377440"/>
                <a:gridCol w="1234440"/>
                <a:gridCol w="1188720"/>
                <a:gridCol w="1234440"/>
                <a:gridCol w="1188720"/>
              </a:tblGrid>
              <a:tr h="27431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轮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KonIQ SRCC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KonIQ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SPAQ SRCC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SPAQ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R1-bare（裸问基线）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0.577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0.463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R1-rich（+完整细则）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0.633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0.688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0.867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1.042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R2.5（+动态分诊）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0.619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0.533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R4（BT监督路由）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0.668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0.554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0.908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R6（统一框架）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0.491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0.945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6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937760" cy="19746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749039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R6 相对 R1-bare 基准：KonIQ SRCC +0.157、MAE −0.028；SPAQ SRCC +0.012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R2.5→R4 +0.049：同分布 BT 信号替换旧梯子（同一机制、不同信号、收益近一个量级）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R4→R6 +0.065：逐图动态门控（+0.026一致率）+ 裸问释义投票零点校准（+0.045 τ）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757575"/>
                </a:solidFill>
                <a:latin typeface="Microsoft YaHei"/>
              </a:rPr>
              <a:t>CKE 经验规则（R2.5→R3）SRCC仅 +0.002 —— 自洽≠对齐 —— 催生锚相关性定律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对比：Tool-IQA 同族 8B 零样本 SRCC 0.729 —— 本文 32B 以 0.734 越过此锚点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6/11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59595"/>
                </a:solidFill>
                <a:latin typeface="Microsoft YaHei"/>
              </a:rPr>
              <a:t>检验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84632"/>
            <a:ext cx="54864" cy="43891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A4A"/>
                </a:solidFill>
                <a:latin typeface="Microsoft YaHei"/>
              </a:rPr>
              <a:t>散点密度 · 门控跨模型迁移（0 新增调用）</a:t>
            </a:r>
          </a:p>
        </p:txBody>
      </p:sp>
      <p:pic>
        <p:nvPicPr>
          <p:cNvPr id="7" name="Picture 6" descr="fig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5760720" cy="2700430"/>
          </a:xfrm>
          <a:prstGeom prst="rect">
            <a:avLst/>
          </a:prstGeom>
        </p:spPr>
      </p:pic>
      <p:pic>
        <p:nvPicPr>
          <p:cNvPr id="8" name="Picture 7" descr="fig7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5303520" cy="31551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7548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左：R6 预测分 vs 人群分散点密度 —— 两数据集主趋势贴合对角线，无系统性偏移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右：32B 训练的门控矩阵 W 原样套到 8B 专家分 —— 零新增 API、纯矩阵乘法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1A1A1A"/>
                </a:solidFill>
                <a:latin typeface="Microsoft YaHei"/>
              </a:rPr>
              <a:t>8B 等权门控 0.759 → 迁移 W 后 0.776，反超 32B 自身（0.734）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100">
                <a:solidFill>
                  <a:srgbClr val="C9A96E"/>
                </a:solidFill>
                <a:latin typeface="Microsoft YaHei"/>
              </a:rPr>
              <a:t>→ 门控学到的是"图像属性 → 专家可信度"的通用映射，与 Backbone 规模解耦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7/11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59595"/>
                </a:solidFill>
                <a:latin typeface="Microsoft YaHei"/>
              </a:rPr>
              <a:t>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84632"/>
            <a:ext cx="54864" cy="43891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A4A"/>
                </a:solidFill>
                <a:latin typeface="Microsoft YaHei"/>
              </a:rPr>
              <a:t>困难与发现：提示词约束的保序-校零分离</a:t>
            </a:r>
          </a:p>
        </p:txBody>
      </p:sp>
      <p:pic>
        <p:nvPicPr>
          <p:cNvPr id="7" name="Picture 6" descr="fig5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5760720" cy="241596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37160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0584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KonIQ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SPAQ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说明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R1-bare(纯裸问)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0.454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0.819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零修饰先验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R1-anchor v2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0.507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+人设+锚点带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R1-anchor v3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0.645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+维度/清单/程序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R1-rich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0.688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1.042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完整专家人设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ig8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08960"/>
            <a:ext cx="5303520" cy="22504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61772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1A1A1A"/>
                </a:solidFill>
                <a:latin typeface="Microsoft YaHei"/>
              </a:rPr>
              <a:t>核心发现：排序（SRCC）与绝对校准（MAE）是可分离的两种能力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1A1A1A"/>
                </a:solidFill>
                <a:latin typeface="Microsoft YaHei"/>
              </a:rPr>
              <a:t>一级级加约束 → SRCC 高位维持，MAE 单调恶化 —— 锚点带入排序知识同时框死输出分布的零点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1A1A1A"/>
                </a:solidFill>
                <a:latin typeface="Microsoft YaHei"/>
              </a:rPr>
              <a:t>8B vs 32B 对比：纯裸问 MAE 0.579 vs 0.463 → 对人群趋势的把握来自模型能力本身，非 prompt 工程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C9A96E"/>
                </a:solidFill>
                <a:latin typeface="Microsoft YaHei"/>
              </a:rPr>
              <a:t>这不是缺陷：R6 中裸问投票独立承担零点校准 —— "锚点保序、裸问校零"的互补结构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01675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900">
                <a:solidFill>
                  <a:srgbClr val="757575"/>
                </a:solidFill>
                <a:latin typeface="Microsoft YaHei"/>
              </a:rPr>
              <a:t>镜像证据：完整专家输出在锚点带中心形成尖峰（分布图），裸问更贴近人群分形态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8/11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59595"/>
                </a:solidFill>
                <a:latin typeface="Microsoft YaHei"/>
              </a:rPr>
              <a:t>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84632"/>
            <a:ext cx="54864" cy="43891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A4A"/>
                </a:solidFill>
                <a:latin typeface="Microsoft YaHei"/>
              </a:rPr>
              <a:t>困难与发现（续）：锚点双重角色 · CKE 零收益 · MAE 零点偏置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1A1A1A"/>
                </a:solidFill>
                <a:latin typeface="Microsoft YaHei"/>
              </a:rPr>
              <a:t>锚点双重角色（R1-anchor 探针 + R6-offanchor 消融）：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1A1A1A"/>
                </a:solidFill>
                <a:latin typeface="Microsoft YaHei"/>
              </a:rPr>
              <a:t>  → 单问场景（R1-bare→R1-anchor）：锚点单独有害 —— MAE 0.463→0.544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1A1A1A"/>
                </a:solidFill>
                <a:latin typeface="Microsoft YaHei"/>
              </a:rPr>
              <a:t>  → 多专家融合（R6→R6-offanchor）：锚点联合有益 —— 砍锚后 SPAQ MAE 0.945→1.208 崩盘（跨专家分不在同一天平）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C9A96E"/>
                </a:solidFill>
                <a:latin typeface="Microsoft YaHei"/>
              </a:rPr>
              <a:t>  → 同一组件在不同架构深度扮演相反角色 —— 本项目对"零训练下如何设计评估架构"的精确定量回答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1A1A1A"/>
                </a:solidFill>
                <a:latin typeface="Microsoft YaHei"/>
              </a:rPr>
              <a:t>CKE 自进化规则库（无效组件）：内部指标全改善（阶梯单调性 +0.019 / B-C 分歧 −0.07），外部 SRCC 仅 +0.001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1A1A1A"/>
                </a:solidFill>
                <a:latin typeface="Microsoft YaHei"/>
              </a:rPr>
              <a:t>  → ¥69 换来零收益 —— 催生锚相关性定律（第一块基石）：监督信号与目标的相关性决定自监督上限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C9A96E"/>
                </a:solidFill>
              </a:rPr>
              <a:t>  ●  </a:t>
            </a:r>
            <a:r>
              <a:rPr sz="1050">
                <a:solidFill>
                  <a:srgbClr val="1A1A1A"/>
                </a:solidFill>
                <a:latin typeface="Microsoft YaHei"/>
              </a:rPr>
              <a:t>MAE 零点偏置（结构性边界）：模型先验内容依赖零点摆幅 ~19pp ‖ 标注人群 ~6pp，在 §4.5 约束下原则性不可达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9/11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103327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锚相关性定律：三轮完整闭合</a:t>
            </a:r>
          </a:p>
          <a:p>
            <a:pPr>
              <a:spcAft>
                <a:spcPts val="2000"/>
              </a:spcAft>
            </a:pPr>
          </a:p>
          <a:p>
            <a:r>
              <a:rPr sz="1800" b="1">
                <a:solidFill>
                  <a:srgbClr val="C9A96E"/>
                </a:solidFill>
                <a:latin typeface="Microsoft YaHei"/>
              </a:rPr>
              <a:t>第一轮 · 发现</a:t>
            </a:r>
          </a:p>
          <a:p>
            <a:r>
              <a:rPr sz="1300">
                <a:solidFill>
                  <a:srgbClr val="FFFFFF"/>
                </a:solidFill>
                <a:latin typeface="Microsoft YaHei"/>
              </a:rPr>
              <a:t>    CKE +0.001 零收益证伪"自洽驱动自监督"</a:t>
            </a:r>
          </a:p>
          <a:p>
            <a:r>
              <a:rPr sz="1300">
                <a:solidFill>
                  <a:srgbClr val="FFFFFF"/>
                </a:solidFill>
                <a:latin typeface="Microsoft YaHei"/>
              </a:rPr>
              <a:t>    同源多专家 +0.007 证伪"旧信号上重加权"</a:t>
            </a:r>
          </a:p>
          <a:p>
            <a:r>
              <a:rPr sz="1300">
                <a:solidFill>
                  <a:srgbClr val="FFFFFF"/>
                </a:solidFill>
                <a:latin typeface="Microsoft YaHei"/>
              </a:rPr>
              <a:t>    → 确立"信号相关性决定上限"的定性命题</a:t>
            </a:r>
          </a:p>
          <a:p>
            <a:pPr>
              <a:spcAft>
                <a:spcPts val="400"/>
              </a:spcAft>
            </a:pPr>
          </a:p>
          <a:p>
            <a:r>
              <a:rPr sz="1800" b="1">
                <a:solidFill>
                  <a:srgbClr val="C9A96E"/>
                </a:solidFill>
                <a:latin typeface="Microsoft YaHei"/>
              </a:rPr>
              <a:t>第二轮 · 验证</a:t>
            </a:r>
          </a:p>
          <a:p>
            <a:r>
              <a:rPr sz="1300">
                <a:solidFill>
                  <a:srgbClr val="FFFFFF"/>
                </a:solidFill>
                <a:latin typeface="Microsoft YaHei"/>
              </a:rPr>
              <a:t>    同一融合机制：旧梯子信号 +0.007 ‖ BT信号 +0.062</a:t>
            </a:r>
          </a:p>
          <a:p>
            <a:r>
              <a:rPr sz="1300">
                <a:solidFill>
                  <a:srgbClr val="FFFFFF"/>
                </a:solidFill>
                <a:latin typeface="Microsoft YaHei"/>
              </a:rPr>
              <a:t>    同一代码、不同信号、收益差近一个量级</a:t>
            </a:r>
          </a:p>
          <a:p>
            <a:r>
              <a:rPr sz="1300">
                <a:solidFill>
                  <a:srgbClr val="FFFFFF"/>
                </a:solidFill>
                <a:latin typeface="Microsoft YaHei"/>
              </a:rPr>
              <a:t>    → 定性命题升级为可操作的定量定律</a:t>
            </a:r>
          </a:p>
          <a:p>
            <a:pPr>
              <a:spcAft>
                <a:spcPts val="400"/>
              </a:spcAft>
            </a:pPr>
          </a:p>
          <a:p>
            <a:r>
              <a:rPr sz="1800" b="1">
                <a:solidFill>
                  <a:srgbClr val="C9A96E"/>
                </a:solidFill>
                <a:latin typeface="Microsoft YaHei"/>
              </a:rPr>
              <a:t>第三轮 · 放大</a:t>
            </a:r>
          </a:p>
          <a:p>
            <a:r>
              <a:rPr sz="1300">
                <a:solidFill>
                  <a:srgbClr val="FFFFFF"/>
                </a:solidFill>
                <a:latin typeface="Microsoft YaHei"/>
              </a:rPr>
              <a:t>    扩容锦标赛 32,000 场对决 · 引入逐图动态门控(21参数) · 增设裸问投票校零</a:t>
            </a:r>
          </a:p>
          <a:p>
            <a:r>
              <a:rPr sz="1300">
                <a:solidFill>
                  <a:srgbClr val="FFFFFF"/>
                </a:solidFill>
                <a:latin typeface="Microsoft YaHei"/>
              </a:rPr>
              <a:t>    KonIQ SRCC 0.577→0.734  SPAQ 0.881→0.893</a:t>
            </a:r>
          </a:p>
          <a:p>
            <a:r>
              <a:rPr sz="1300">
                <a:solidFill>
                  <a:srgbClr val="FFFFFF"/>
                </a:solidFill>
                <a:latin typeface="Microsoft YaHei"/>
              </a:rPr>
              <a:t>    跨模型迁移(32B W→8B,SRCC 0.776)验证定律的去模型依赖性</a:t>
            </a:r>
          </a:p>
          <a:p>
            <a:pPr>
              <a:spcAft>
                <a:spcPts val="400"/>
              </a:spcAft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10/11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</a:rPr>
              <a:t>结论</a:t>
            </a:r>
          </a:p>
          <a:p>
            <a:pPr>
              <a:spcAft>
                <a:spcPts val="2000"/>
              </a:spcAft>
            </a:pPr>
          </a:p>
          <a:p>
            <a:r>
              <a:rPr sz="2800" b="1">
                <a:solidFill>
                  <a:srgbClr val="C9A96E"/>
                </a:solidFill>
                <a:latin typeface="Arial"/>
              </a:rPr>
              <a:t>01</a:t>
            </a:r>
          </a:p>
          <a:p>
            <a:r>
              <a:rPr sz="1500">
                <a:solidFill>
                  <a:srgbClr val="FFFFFF"/>
                </a:solidFill>
                <a:latin typeface="Microsoft YaHei"/>
              </a:rPr>
              <a:t>统一框架：两数据集 × 两模型规模，同一骨架，主干零训练，全程温度=0 缓存可复现</a:t>
            </a:r>
          </a:p>
          <a:p>
            <a:pPr>
              <a:spcAft>
                <a:spcPts val="1000"/>
              </a:spcAft>
            </a:pPr>
          </a:p>
          <a:p>
            <a:r>
              <a:rPr sz="2800" b="1">
                <a:solidFill>
                  <a:srgbClr val="C9A96E"/>
                </a:solidFill>
                <a:latin typeface="Arial"/>
              </a:rPr>
              <a:t>02</a:t>
            </a:r>
          </a:p>
          <a:p>
            <a:r>
              <a:rPr sz="1500">
                <a:solidFill>
                  <a:srgbClr val="FFFFFF"/>
                </a:solidFill>
                <a:latin typeface="Microsoft YaHei"/>
              </a:rPr>
              <a:t>BT 锦标赛自监督 → 21 参数可解释门控矩阵 → 有效（留出验证）· 可迁移（跨模型反超原主）</a:t>
            </a:r>
          </a:p>
          <a:p>
            <a:pPr>
              <a:spcAft>
                <a:spcPts val="1000"/>
              </a:spcAft>
            </a:pPr>
          </a:p>
          <a:p>
            <a:r>
              <a:rPr sz="2800" b="1">
                <a:solidFill>
                  <a:srgbClr val="C9A96E"/>
                </a:solidFill>
                <a:latin typeface="Arial"/>
              </a:rPr>
              <a:t>03</a:t>
            </a:r>
          </a:p>
          <a:p>
            <a:r>
              <a:rPr sz="1500">
                <a:solidFill>
                  <a:srgbClr val="FFFFFF"/>
                </a:solidFill>
                <a:latin typeface="Microsoft YaHei"/>
              </a:rPr>
              <a:t>三项核心发现：提示词约束的保序-校零分离 · 锚点的双重角色 · 检索式经验规则的零收益</a:t>
            </a:r>
          </a:p>
          <a:p>
            <a:pPr>
              <a:spcAft>
                <a:spcPts val="1000"/>
              </a:spcAft>
            </a:pPr>
          </a:p>
          <a:p>
            <a:r>
              <a:rPr sz="2800" b="1">
                <a:solidFill>
                  <a:srgbClr val="C9A96E"/>
                </a:solidFill>
                <a:latin typeface="Arial"/>
              </a:rPr>
              <a:t>04</a:t>
            </a:r>
          </a:p>
          <a:p>
            <a:r>
              <a:rPr sz="1500">
                <a:solidFill>
                  <a:srgbClr val="FFFFFF"/>
                </a:solidFill>
                <a:latin typeface="Microsoft YaHei"/>
              </a:rPr>
              <a:t>锚相关性定律：三轮完整闭合（发现→验证→放大——预注册假设检验保证可归因性）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11/11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谢谢各位老师，请批评指正</a:t>
            </a:r>
          </a:p>
          <a:p>
            <a:pPr>
              <a:spcAft>
                <a:spcPts val="2000"/>
              </a:spcAft>
            </a:pPr>
          </a:p>
          <a:p>
            <a:r>
              <a:rPr sz="1800">
                <a:solidFill>
                  <a:srgbClr val="C9A96E"/>
                </a:solidFill>
                <a:latin typeface="Microsoft YaHei"/>
              </a:rPr>
              <a:t>张丞  ·  北京邮电大学  ·  2026.07.29</a:t>
            </a:r>
          </a:p>
          <a:p>
            <a:r>
              <a:rPr sz="1200">
                <a:solidFill>
                  <a:srgbClr val="888888"/>
                </a:solidFill>
                <a:latin typeface="Microsoft YaHei"/>
              </a:rPr>
              <a:t>材料与代码见附件  ·  docs/findings.md（F-001~F-025 全部证据链）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