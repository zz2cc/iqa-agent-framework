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0368d3889a6da13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3fc6f0b1c0f9d14.png"/>
  <Relationship Id="rId3" Type="http://schemas.openxmlformats.org/officeDocument/2006/relationships/image" Target="../media/image_3e0ba45365d12495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0621978baf4fb52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a754a4df2e770e0.png"/>
  <Relationship Id="rId3" Type="http://schemas.openxmlformats.org/officeDocument/2006/relationships/image" Target="../media/image_c77def9e1f797f87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9616516ea851d60.png"/>
  <Relationship Id="rId3" Type="http://schemas.openxmlformats.org/officeDocument/2006/relationships/image" Target="../media/image_49181fefb183efe3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0000">
              <a:schemeClr val="accent1"/>
            </a:gs>
            <a:gs pos="100000">
              <a:srgbClr val="21365A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3810000" y="2571750"/>
            <a:ext cx="1714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31570" y="1662112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基于开源多模态大模型的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284" y="2070735"/>
            <a:ext cx="440817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图像质量评估 Agent 框架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7285" y="2831306"/>
            <a:ext cx="28276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Unified Agent Framework for Blind IQA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3950018"/>
            <a:ext cx="1676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张丞 · 北京邮电大学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8047" y="4352449"/>
            <a:ext cx="25099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指导教师：何老师 验收汇报 · 2026.07.29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2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背景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495300"/>
            <a:ext cx="381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5132" y="53530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任务与硬约束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1219200"/>
            <a:ext cx="112776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676275" y="1544002"/>
            <a:ext cx="6769532" cy="2586609"/>
            <a:chOff x="676275" y="1544002"/>
            <a:chExt cx="6769532" cy="2586609"/>
          </a:xfrm>
        </p:grpSpPr>
        <p:sp>
          <p:nvSpPr>
            <p:cNvPr id="8" name="Ellipse 8"/>
            <p:cNvSpPr/>
            <p:nvPr/>
          </p:nvSpPr>
          <p:spPr>
            <a:xfrm>
              <a:off x="676275" y="1562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1916" y="1544002"/>
              <a:ext cx="6593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任务：构建通用 IQA Agent 框架 — Backbone 零训练，仅通过 Skill（Prompt）挖掘大模型质量评估能力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76275" y="1943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1916" y="1925002"/>
              <a:ext cx="6207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主干：Qwen3-VL-32b-instruct（DashScope API）· 温度 = 0 · 全流程 SHA256 磁盘缓存可复现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76275" y="2324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916" y="2306002"/>
              <a:ext cx="6049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评测：KonIQ-10k Val 2,015 张（1–5 整数 MOS）· SPAQ Test 1,125 张（0–10 连续 MOS）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6275" y="2800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1916" y="2782252"/>
              <a:ext cx="227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合规红线（任务书 §4.1–§4.5）：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1908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2416" y="3163252"/>
              <a:ext cx="61739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数据集名 / Image ID / MOS / 失真类型等级 / 划分信息 — 一律不进 Router/LLM/Skill 线上输入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76300" y="35718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2416" y="3544252"/>
              <a:ext cx="5611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MOS 仅用于离线评测与误差分析 — 全程每轮末各读一次，均在预注册文档冻结后执行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76300" y="39528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2416" y="3925252"/>
              <a:ext cx="49267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Router/Decision 层可训练（3 项职能：规则选择 · 冲突裁决 · 解释生成）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52297" y="4466749"/>
            <a:ext cx="56345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监督信号全部来自训练集像素自衍生（合成失真阶梯 + 两两比较 BT 锦标赛）— 零 MOS 接触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3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框架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495300"/>
            <a:ext cx="381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5132" y="535305"/>
            <a:ext cx="447389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统一框架总览：一张图，三路并行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1143000"/>
            <a:ext cx="6286500" cy="538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676275" y="1428274"/>
            <a:ext cx="6319317" cy="2429065"/>
            <a:chOff x="676275" y="1428274"/>
            <a:chExt cx="6319317" cy="2429065"/>
          </a:xfrm>
        </p:grpSpPr>
        <p:sp>
          <p:nvSpPr>
            <p:cNvPr id="8" name="Ellipse 8"/>
            <p:cNvSpPr/>
            <p:nvPr/>
          </p:nvSpPr>
          <p:spPr>
            <a:xfrm>
              <a:off x="676275" y="14382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2297" y="14282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三路并行输入：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923925" y="1781175"/>
              <a:ext cx="57150" cy="57150"/>
            </a:xfrm>
            <a:prstGeom prst="ellipse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0422" y="17521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A78D6"/>
                  </a:solidFill>
                  <a:latin typeface="+mn-lt"/>
                  <a:ea typeface="+mn-ea"/>
                  <a:cs typeface="+mn-cs"/>
                </a:rPr>
                <a:t>技能专家并行评分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1547" y="1752124"/>
              <a:ext cx="24284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（S-TECH / S-GLOBAL / S-CONTENT）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23925" y="2066925"/>
              <a:ext cx="57150" cy="57150"/>
            </a:xfrm>
            <a:prstGeom prst="ellipse">
              <a:avLst/>
            </a:prstGeom>
            <a:solidFill>
              <a:srgbClr val="EB683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0422" y="2037874"/>
              <a:ext cx="964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B6834"/>
                  </a:solidFill>
                  <a:latin typeface="+mn-lt"/>
                  <a:ea typeface="+mn-ea"/>
                  <a:cs typeface="+mn-cs"/>
                </a:rPr>
                <a:t>像素统计特征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9172" y="2037874"/>
              <a:ext cx="3937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（7 维 OpenCV：清晰度/噪声/色彩/亮度/分辨/宽高比/分歧度）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23925" y="2352675"/>
              <a:ext cx="57150" cy="57150"/>
            </a:xfrm>
            <a:prstGeom prst="ellipse">
              <a:avLst/>
            </a:prstGeom>
            <a:solidFill>
              <a:srgbClr val="1BAF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0422" y="2323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BAF7A"/>
                  </a:solidFill>
                  <a:latin typeface="+mn-lt"/>
                  <a:ea typeface="+mn-ea"/>
                  <a:cs typeface="+mn-cs"/>
                </a:rPr>
                <a:t>裸问释义投票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19172" y="2323624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（4 条同义问法取均值 — 承担零点校准）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76275" y="2819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2297" y="2809399"/>
              <a:ext cx="61432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门控矩阵 W(3×7)：BT 锦标赛离线训练 → 冻结后纯矩阵乘法推理 → 输出动态话语权 g = softmax(W·F)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76275" y="3248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2297" y="3238024"/>
              <a:ext cx="5379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融合分 s_fus = g · s（三专家分加权内积）；投票分 s_vote = mean(4 条释义 + 裸问原句)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6275" y="3676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297" y="3666649"/>
              <a:ext cx="49052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最终分 = α · s_fus + (1−α) · s_vote — KonIQ α=0.6 / SPAQ α=0.3（小店扫描）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2488" y="4284345"/>
            <a:ext cx="44004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R1→R2→R3 搭建三路，R4→R5 预注册验证，R6 统一收敛 — 两数据集仅参数不同</a:t>
            </a:r>
          </a:p>
        </p:txBody>
      </p:sp>
      <p:pic>
        <p:nvPicPr>
          <p:cNvPr id="27" name="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0" y="2038866"/>
            <a:ext cx="4762500" cy="220876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4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方法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342900"/>
            <a:ext cx="38100" cy="285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6656" y="377190"/>
            <a:ext cx="527398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核心方法：BT 锦标赛自监督 + 门控矩阵训练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857250"/>
            <a:ext cx="5715000" cy="2952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652462" y="1078468"/>
            <a:ext cx="3632079" cy="1931194"/>
            <a:chOff x="652462" y="1078468"/>
            <a:chExt cx="3632079" cy="1931194"/>
          </a:xfrm>
        </p:grpSpPr>
        <p:sp>
          <p:nvSpPr>
            <p:cNvPr id="8" name="Ellipse 8"/>
            <p:cNvSpPr/>
            <p:nvPr/>
          </p:nvSpPr>
          <p:spPr>
            <a:xfrm>
              <a:off x="652462" y="10906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4862" y="1078468"/>
              <a:ext cx="288070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监督信号难题：路由需训练信号，但人群分被 §4.4 禁止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738" y="1268968"/>
              <a:ext cx="12656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2A78D6"/>
                  </a:solidFill>
                  <a:latin typeface="+mn-lt"/>
                  <a:ea typeface="+mn-ea"/>
                  <a:cs typeface="+mn-cs"/>
                </a:rPr>
                <a:t>→ 答案：两两比较锦标赛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52462" y="16144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862" y="1602343"/>
              <a:ext cx="249275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科学依据：VLM 绝对评分噪声 ≪ 两两比较能力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738" y="1792843"/>
              <a:ext cx="33368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（SPAQ梯子：绝对值全 FAIL ∥ 比较 0.98/0.88 — 量级差距）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52462" y="21383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862" y="2126218"/>
              <a:ext cx="283915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组织：2,500 张 KonIQ Train 图 → 32,389 场两两比较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738" y="2316718"/>
              <a:ext cx="237020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→ Bradley-Terry 凸优化 → 每图一标量强度分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52462" y="266223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862" y="2650093"/>
              <a:ext cx="29038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本质：把大模型内部自发的质量排序能力蒸馏成训练信号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738" y="2840593"/>
              <a:ext cx="174656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— 零人工标签、不依赖任何 MOS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04862" y="3339941"/>
            <a:ext cx="355851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留出 2,000 对检验：动态融合一致率 80.9% vs 等权 78.0%（+2.9 pp）</a:t>
            </a:r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02700"/>
            <a:ext cx="5715000" cy="2367350"/>
          </a:xfrm>
          <a:prstGeom prst="rect">
            <a:avLst/>
          </a:prstGeom>
        </p:spPr>
      </p:pic>
      <p:sp>
        <p:nvSpPr>
          <p:cNvPr id="23" name="Rectangle 23"/>
          <p:cNvSpPr/>
          <p:nvPr/>
        </p:nvSpPr>
        <p:spPr>
          <a:xfrm>
            <a:off x="6381750" y="857250"/>
            <a:ext cx="5353050" cy="2952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6577012" y="1078468"/>
            <a:ext cx="4829032" cy="1835944"/>
            <a:chOff x="6577012" y="1078468"/>
            <a:chExt cx="4829032" cy="1835944"/>
          </a:xfrm>
        </p:grpSpPr>
        <p:sp>
          <p:nvSpPr>
            <p:cNvPr id="24" name="Ellipse 24"/>
            <p:cNvSpPr/>
            <p:nvPr/>
          </p:nvSpPr>
          <p:spPr>
            <a:xfrm>
              <a:off x="6577012" y="10906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29412" y="1078468"/>
              <a:ext cx="151689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门控训练：21 个可学习参数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77012" y="14239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29412" y="1411843"/>
              <a:ext cx="412580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W(3×7) 从零初始化 → 每步 128 对图 → 解析梯度 SGD → 800 步 CPU 数秒收敛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77012" y="17573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29412" y="1745218"/>
              <a:ext cx="467663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 = −log σ(s_fus_A − s_fus_B)：最小化成对铰链损失，优化方向 = 满足 BT 偏好顺序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77012" y="21859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29412" y="2173843"/>
              <a:ext cx="249886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训练后 W 高度可读：分歧度列权重绝对值最大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29412" y="2364343"/>
              <a:ext cx="166093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2A78D6"/>
                  </a:solidFill>
                  <a:latin typeface="+mn-lt"/>
                  <a:ea typeface="+mn-ea"/>
                  <a:cs typeface="+mn-cs"/>
                </a:rPr>
                <a:t>TECH +0.89 / CONTENT −0.84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29412" y="2554843"/>
              <a:ext cx="25391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→ 专家意见不一致时，门控把话语权交给技术专家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29412" y="2745343"/>
              <a:ext cx="255074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logpix/aspect 权重自动归零（尺寸恒定无信息）</a:t>
              </a:r>
            </a:p>
          </p:txBody>
        </p:sp>
      </p:grpSp>
      <p:pic>
        <p:nvPicPr>
          <p:cNvPr id="36" name="Imag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065440"/>
            <a:ext cx="5353050" cy="244187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5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结果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342900"/>
            <a:ext cx="38100" cy="285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6656" y="377190"/>
            <a:ext cx="2817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三轮综合主表与逐臂趋势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838200"/>
            <a:ext cx="6572250" cy="266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552427" y="952500"/>
            <a:ext cx="6362723" cy="1524000"/>
            <a:chOff x="552427" y="952500"/>
            <a:chExt cx="6362723" cy="15240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63436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9981" y="1052512"/>
              <a:ext cx="1155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968" y="1052512"/>
              <a:ext cx="58506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KonIQ SRCC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41992" y="1052512"/>
              <a:ext cx="5455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KonIQ 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3803" y="1052512"/>
              <a:ext cx="5583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SPAQ SRCC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31656" y="1052512"/>
              <a:ext cx="51918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SPAQ MAE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552427" y="1219200"/>
              <a:ext cx="6362723" cy="1257300"/>
              <a:chOff x="552427" y="1219200"/>
              <a:chExt cx="6362723" cy="12573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71500" y="1219200"/>
                <a:ext cx="6343650" cy="2476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66926" y="1313736"/>
                <a:ext cx="961648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R1-bare（裸问基线）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40315" y="13137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0.577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578565" y="13137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0.463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16815" y="13137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0.881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055065" y="13137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0.893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571500" y="1466850"/>
                <a:ext cx="6343650" cy="2476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52427" y="1561386"/>
                <a:ext cx="990647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R1-rich（+完整细则）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40315" y="15613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0.633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78565" y="15613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0.688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816815" y="15613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0.867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55065" y="15613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1.042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" y="1714500"/>
                <a:ext cx="6343650" cy="2476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1154" y="1809036"/>
                <a:ext cx="89319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R2.5（+动态分诊）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340315" y="18090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0.619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78565" y="18090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0.533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16815" y="18090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0.860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55065" y="180903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1.014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71500" y="1962150"/>
                <a:ext cx="6343650" cy="2476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28927" y="2056686"/>
                <a:ext cx="837646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R4（BT监督路由）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340315" y="20566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0.668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578565" y="20566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0.554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816815" y="20566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0.885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55065" y="20566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0.908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571500" y="2209800"/>
                <a:ext cx="6343650" cy="266700"/>
              </a:xfrm>
              <a:prstGeom prst="rect">
                <a:avLst/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66546" y="2313861"/>
                <a:ext cx="762408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b="1" dirty="0">
                    <a:solidFill>
                      <a:srgbClr val="2A78D6"/>
                    </a:solidFill>
                    <a:latin typeface="Arial"/>
                    <a:ea typeface="Microsoft YaHei"/>
                    <a:cs typeface="Arial"/>
                  </a:rPr>
                  <a:t>R6（统一框架）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333744" y="2313861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/>
                    <a:ea typeface="Arial"/>
                    <a:cs typeface="Arial"/>
                  </a:rPr>
                  <a:t>0.734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71994" y="2313861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/>
                    <a:ea typeface="Arial"/>
                    <a:cs typeface="Arial"/>
                  </a:rPr>
                  <a:t>0.491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810244" y="2313861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/>
                    <a:ea typeface="Arial"/>
                    <a:cs typeface="Arial"/>
                  </a:rPr>
                  <a:t>0.893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048494" y="2313861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/>
                    <a:ea typeface="Arial"/>
                    <a:cs typeface="Arial"/>
                  </a:rPr>
                  <a:t>0.945</a:t>
                </a:r>
              </a:p>
            </p:txBody>
          </p:sp>
        </p:grpSp>
      </p:grpSp>
      <p:pic>
        <p:nvPicPr>
          <p:cNvPr id="46" name="Imag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253711"/>
            <a:ext cx="4591050" cy="1835978"/>
          </a:xfrm>
          <a:prstGeom prst="rect">
            <a:avLst/>
          </a:prstGeom>
        </p:spPr>
      </p:pic>
      <p:sp>
        <p:nvSpPr>
          <p:cNvPr id="47" name="Rectangle 47"/>
          <p:cNvSpPr/>
          <p:nvPr/>
        </p:nvSpPr>
        <p:spPr>
          <a:xfrm>
            <a:off x="457200" y="3714750"/>
            <a:ext cx="11277600" cy="2809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4" name="Group 54"/>
          <p:cNvGrpSpPr/>
          <p:nvPr/>
        </p:nvGrpSpPr>
        <p:grpSpPr>
          <a:xfrm>
            <a:off x="652462" y="3950970"/>
            <a:ext cx="5032934" cy="747712"/>
            <a:chOff x="652462" y="3950970"/>
            <a:chExt cx="5032934" cy="747712"/>
          </a:xfrm>
        </p:grpSpPr>
        <p:sp>
          <p:nvSpPr>
            <p:cNvPr id="48" name="Ellipse 48"/>
            <p:cNvSpPr/>
            <p:nvPr/>
          </p:nvSpPr>
          <p:spPr>
            <a:xfrm>
              <a:off x="652462" y="39671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4862" y="3950970"/>
              <a:ext cx="4510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R6 相对 R1-bare 基准：KonIQ SRCC +0.157、MAE −0.028；SPAQ SRCC +0.012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2462" y="42529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4862" y="4236720"/>
              <a:ext cx="48805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R2→R4 +0.049：同分布 BT 信号替换旧梯子（同一机制、不同信号、收益近一个量级）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2462" y="45386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4862" y="4522470"/>
              <a:ext cx="4868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R4→R6 +0.065：逐图动态门控（+0.026一致率）+ 裸问释义投票零点校准（+0.045 τ）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804862" y="4911566"/>
            <a:ext cx="39110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CKE 经验规则（R2.5→R3）SRCC仅 +0.001 — 自洽≠对齐 — 催生锚相关性定律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04862" y="5197316"/>
            <a:ext cx="397222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对比：Tool-IQA 同族 8B 零样本 SRCC 0.729 — 本文 32B 以 0.734 越过此锚点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6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检验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419100"/>
            <a:ext cx="38100" cy="285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6656" y="453390"/>
            <a:ext cx="438179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效果演示：散点密度 · 门控跨模型迁移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49826"/>
            <a:ext cx="5619750" cy="2634348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20" y="1047750"/>
            <a:ext cx="5443609" cy="323850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457200" y="4524375"/>
            <a:ext cx="11277600" cy="2000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652462" y="4766072"/>
            <a:ext cx="4727971" cy="754856"/>
            <a:chOff x="652462" y="4766072"/>
            <a:chExt cx="4727971" cy="754856"/>
          </a:xfrm>
        </p:grpSpPr>
        <p:sp>
          <p:nvSpPr>
            <p:cNvPr id="10" name="Ellipse 10"/>
            <p:cNvSpPr/>
            <p:nvPr/>
          </p:nvSpPr>
          <p:spPr>
            <a:xfrm>
              <a:off x="652462" y="47767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862" y="4766072"/>
              <a:ext cx="45543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左：R6 预测分 vs 人群分散点密度 — 两数据集主趋势贴合对角线，无系统性偏移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52462" y="506253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862" y="5051822"/>
              <a:ext cx="45755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右：将 32B 训练的门控矩阵 W 原样套到 8B 专家分 — 零新增 API、纯矩阵乘法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52462" y="53482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862" y="5337572"/>
              <a:ext cx="388698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8B 等权门控 0.759 → 迁移 W 后 0.776，反超 32B 自身（0.734）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04672" y="5800249"/>
            <a:ext cx="4766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 门控学到的是"图像属性 → 专家可信度"的通用映射，与 Backbone 规模解耦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7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发现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342900"/>
            <a:ext cx="38100" cy="285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6656" y="377190"/>
            <a:ext cx="473799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困难与发现：提示词约束的保序-校零分离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16177"/>
            <a:ext cx="5715000" cy="2396795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6286500" y="838200"/>
            <a:ext cx="5524500" cy="2381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6400800" y="952500"/>
            <a:ext cx="5295900" cy="1070134"/>
            <a:chOff x="6400800" y="952500"/>
            <a:chExt cx="5295900" cy="1070134"/>
          </a:xfrm>
        </p:grpSpPr>
        <p:sp>
          <p:nvSpPr>
            <p:cNvPr id="9" name="Rectangle 9"/>
            <p:cNvSpPr/>
            <p:nvPr/>
          </p:nvSpPr>
          <p:spPr>
            <a:xfrm>
              <a:off x="6400800" y="952500"/>
              <a:ext cx="52959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90928" y="1032034"/>
              <a:ext cx="10564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91379" y="1032034"/>
              <a:ext cx="4954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KonIQ 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46315" y="1032034"/>
              <a:ext cx="47162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SPAQ MAE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28994" y="1032034"/>
              <a:ext cx="2017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说明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400800" y="1181100"/>
              <a:ext cx="5295900" cy="841534"/>
              <a:chOff x="6400800" y="1181100"/>
              <a:chExt cx="5295900" cy="841534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400800" y="1181100"/>
                <a:ext cx="5295900" cy="2095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729330" y="1260634"/>
                <a:ext cx="828840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R1-bare（纯裸问）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08493" y="126063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0.454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251493" y="126063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0.819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96258" y="1260634"/>
                <a:ext cx="467233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零修饰先验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400800" y="1390650"/>
                <a:ext cx="5295900" cy="209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46286" y="1470184"/>
                <a:ext cx="594927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R1-anchor v2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08493" y="147018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0.507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251493" y="147018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1.034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145911" y="1470184"/>
                <a:ext cx="567929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+人设+锚点带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400800" y="1600200"/>
                <a:ext cx="5295900" cy="2095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846286" y="1679734"/>
                <a:ext cx="594927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R1-anchor v3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08493" y="167973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0.645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251493" y="167973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1.062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74966" y="1679734"/>
                <a:ext cx="709818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+维度/清单/程序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400800" y="1809750"/>
                <a:ext cx="5295900" cy="209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972347" y="1889284"/>
                <a:ext cx="342806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R1-rich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08493" y="188928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0.688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51493" y="1889284"/>
                <a:ext cx="26126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1.042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150488" y="1889284"/>
                <a:ext cx="558775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完整专家人设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6396038" y="2213134"/>
            <a:ext cx="273331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指标：KonIQ纯裸问0.454→完整专家0.688；SPAQ 0.819→1.042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96038" y="2384584"/>
            <a:ext cx="252916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排序一致性（SRCC）维持高位，绝对误差（MAE）单调恶化</a:t>
            </a:r>
          </a:p>
        </p:txBody>
      </p:sp>
      <p:pic>
        <p:nvPicPr>
          <p:cNvPr id="38" name="Imag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047" y="3429000"/>
            <a:ext cx="4489406" cy="1905000"/>
          </a:xfrm>
          <a:prstGeom prst="rect">
            <a:avLst/>
          </a:prstGeom>
        </p:spPr>
      </p:pic>
      <p:sp>
        <p:nvSpPr>
          <p:cNvPr id="39" name="Rectangle 39"/>
          <p:cNvSpPr/>
          <p:nvPr/>
        </p:nvSpPr>
        <p:spPr>
          <a:xfrm>
            <a:off x="457200" y="5619750"/>
            <a:ext cx="112776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1038" y="5808345"/>
            <a:ext cx="391433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核心发现：排序（SRCC）与绝对校准（MAE）是可分离的两种能力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1038" y="6079093"/>
            <a:ext cx="518393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锚点评分带把排序知识注入 VLM，同时把输出分布框进预设分数带 — 排序越准，系统性偏移越大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1038" y="6330791"/>
            <a:ext cx="64147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8B 纯裸问 MAE 0.579 vs 32B 0.463 — 对人群趋势的把握来自模型能力本身，非 prompt 工程。R6 中裸问投票独立承担零点校准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8 /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438" y="6594634"/>
            <a:ext cx="1926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发现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342900"/>
            <a:ext cx="38100" cy="285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6656" y="377190"/>
            <a:ext cx="684666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发现（续）：锚点双重角色 · CKE 零收益 · MAE 零点偏置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952500"/>
            <a:ext cx="3657600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267200" y="952500"/>
            <a:ext cx="3657600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077200" y="952500"/>
            <a:ext cx="3657600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57200" y="952500"/>
            <a:ext cx="3657600" cy="323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35410" y="105822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锚点双重角色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90550" y="1478518"/>
            <a:ext cx="3390900" cy="3588544"/>
            <a:chOff x="590550" y="1478518"/>
            <a:chExt cx="3390900" cy="3588544"/>
          </a:xfrm>
        </p:grpSpPr>
        <p:sp>
          <p:nvSpPr>
            <p:cNvPr id="12" name="TextBox 12"/>
            <p:cNvSpPr txBox="1"/>
            <p:nvPr/>
          </p:nvSpPr>
          <p:spPr>
            <a:xfrm>
              <a:off x="681038" y="1478518"/>
              <a:ext cx="18931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单问场景（R1-bare→R1-anchor）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038" y="173569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锚点单独有害：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1038" y="1964293"/>
              <a:ext cx="166093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MAE 0.463→0.544（+0.081）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1038" y="2288143"/>
              <a:ext cx="188242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多专家融合（R6→R6-offanchor）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1038" y="2545318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锚点联合有益：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1038" y="2773918"/>
              <a:ext cx="96978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砍锚后 SPAQ MAE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038" y="3002518"/>
              <a:ext cx="97623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0.945→1.208 崩盘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1038" y="3326368"/>
              <a:ext cx="116725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跨专家分不在同一天平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90550" y="3714750"/>
              <a:ext cx="3390900" cy="19050"/>
            </a:xfrm>
            <a:prstGeom prst="rect">
              <a:avLst/>
            </a:prstGeom>
            <a:solidFill>
              <a:srgbClr val="E1E0D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1038" y="3955018"/>
              <a:ext cx="3742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1038" y="4212193"/>
              <a:ext cx="12830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同一组件在不同架构深度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1038" y="4440793"/>
              <a:ext cx="11846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扮演相反角色 — 本项目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038" y="4669393"/>
              <a:ext cx="134670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对"零训练下如何设计评估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1038" y="4897993"/>
              <a:ext cx="11151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架构"的精确定量回答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4267200" y="952500"/>
            <a:ext cx="3657600" cy="323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467308" y="1058228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CKE 自进化规则库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400550" y="1478518"/>
            <a:ext cx="3390900" cy="3940969"/>
            <a:chOff x="4400550" y="1478518"/>
            <a:chExt cx="3390900" cy="3940969"/>
          </a:xfrm>
        </p:grpSpPr>
        <p:sp>
          <p:nvSpPr>
            <p:cNvPr id="29" name="TextBox 29"/>
            <p:cNvSpPr txBox="1"/>
            <p:nvPr/>
          </p:nvSpPr>
          <p:spPr>
            <a:xfrm>
              <a:off x="4491038" y="1478518"/>
              <a:ext cx="188478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无效组件（¥69 / +0.001 SRCC）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91038" y="181189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内部指标全改善：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1038" y="2040493"/>
              <a:ext cx="100517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阶梯单调性 +0.019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91038" y="2269093"/>
              <a:ext cx="8658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B-C 分歧 −0.07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91038" y="2592943"/>
              <a:ext cx="124502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外部：SRCC 仅 +0.001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00550" y="2952750"/>
              <a:ext cx="3390900" cy="19050"/>
            </a:xfrm>
            <a:prstGeom prst="rect">
              <a:avLst/>
            </a:prstGeom>
            <a:solidFill>
              <a:srgbClr val="E1E0D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91038" y="3193018"/>
              <a:ext cx="3742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根因：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91038" y="3450193"/>
              <a:ext cx="153194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驱动信号（自洽性 + 合成失真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91038" y="3678793"/>
              <a:ext cx="17461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阶梯）优化的是模型内部一致性，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91038" y="3907393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而非与人群分的对齐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91038" y="4231243"/>
              <a:ext cx="60575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自洽 ≠ 对齐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400550" y="4524375"/>
              <a:ext cx="3390900" cy="19050"/>
            </a:xfrm>
            <a:prstGeom prst="rect">
              <a:avLst/>
            </a:prstGeom>
            <a:solidFill>
              <a:srgbClr val="E1E0D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1038" y="4764643"/>
              <a:ext cx="3742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意义：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91038" y="5021818"/>
              <a:ext cx="11498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催生全项目核心理论 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91038" y="5250418"/>
              <a:ext cx="151457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锚相关性定律（第一块基石）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8077200" y="952500"/>
            <a:ext cx="3657600" cy="323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418446" y="1058228"/>
            <a:ext cx="9751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MAE 零点偏置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8210550" y="1478518"/>
            <a:ext cx="3390900" cy="4112419"/>
            <a:chOff x="8210550" y="1478518"/>
            <a:chExt cx="3390900" cy="4112419"/>
          </a:xfrm>
        </p:grpSpPr>
        <p:sp>
          <p:nvSpPr>
            <p:cNvPr id="47" name="TextBox 47"/>
            <p:cNvSpPr txBox="1"/>
            <p:nvPr/>
          </p:nvSpPr>
          <p:spPr>
            <a:xfrm>
              <a:off x="8301038" y="1478518"/>
              <a:ext cx="61733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结构性边界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01038" y="1811893"/>
              <a:ext cx="128881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模型先验零点摆幅 ≈19pp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01038" y="2040493"/>
              <a:ext cx="76205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标注人群 ≈6pp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1038" y="236434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对野生网图宽容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01038" y="259294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对手机照片苛刻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210550" y="2952750"/>
              <a:ext cx="3390900" cy="19050"/>
            </a:xfrm>
            <a:prstGeom prst="rect">
              <a:avLst/>
            </a:prstGeom>
            <a:solidFill>
              <a:srgbClr val="E1E0D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01038" y="3193018"/>
              <a:ext cx="3742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归因：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01038" y="3450193"/>
              <a:ext cx="1364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~65% 附加偏置来自锚点层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01038" y="3678793"/>
              <a:ext cx="12830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锚点损益随数据集变号：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01038" y="3907393"/>
              <a:ext cx="140404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SPAQ上锚点反将零点拉近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01038" y="4135993"/>
              <a:ext cx="16303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MOS（MAE 0.807 全表最优）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01038" y="4459843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盲写先验不可能同时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01038" y="468844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命中两个数据集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210550" y="4953000"/>
              <a:ext cx="3390900" cy="19050"/>
            </a:xfrm>
            <a:prstGeom prst="rect">
              <a:avLst/>
            </a:prstGeom>
            <a:solidFill>
              <a:srgbClr val="E1E0D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01038" y="5193268"/>
              <a:ext cx="13409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§4.5 约束下原则性不可达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01038" y="5421868"/>
              <a:ext cx="13988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残留课题：内容条件化零点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0"/>
            <a:ext cx="381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978421" y="6594634"/>
            <a:ext cx="26584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9 /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3094" y="475298"/>
            <a:ext cx="360306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锚相关性定律：三轮完整闭合</a:t>
            </a:r>
          </a:p>
        </p:txBody>
      </p:sp>
      <p:sp>
        <p:nvSpPr>
          <p:cNvPr id="6" name="Rectangle 6"/>
          <p:cNvSpPr/>
          <p:nvPr/>
        </p:nvSpPr>
        <p:spPr>
          <a:xfrm>
            <a:off x="1143000" y="1047750"/>
            <a:ext cx="9906000" cy="1428750"/>
          </a:xfrm>
          <a:prstGeom prst="rect">
            <a:avLst/>
          </a:prstGeom>
          <a:solidFill>
            <a:srgbClr val="21365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421892" y="1235392"/>
            <a:ext cx="1187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第一轮 ·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3797" y="1609249"/>
            <a:ext cx="56763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CKE +0.001 零收益证伪"自洽驱动自监督"　｜　同源多专家 +0.007 证伪"旧信号上重加权"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3797" y="1894999"/>
            <a:ext cx="23780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→ 确立"信号相关性决定上限"的定性命题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667000"/>
            <a:ext cx="9906000" cy="1428750"/>
          </a:xfrm>
          <a:prstGeom prst="rect">
            <a:avLst/>
          </a:prstGeom>
          <a:solidFill>
            <a:srgbClr val="21365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21892" y="2854642"/>
            <a:ext cx="1187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第二轮 · 验证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3797" y="3228499"/>
            <a:ext cx="59481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同一融合机制：旧梯子信号 +0.007 ∥ BT信号 +0.062 — 同一代码、不同信号、收益差近一个量级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3797" y="3514249"/>
            <a:ext cx="21009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→ 定性命题升级为可操作的定量定律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4286250"/>
            <a:ext cx="9906000" cy="1428750"/>
          </a:xfrm>
          <a:prstGeom prst="rect">
            <a:avLst/>
          </a:prstGeom>
          <a:solidFill>
            <a:srgbClr val="21365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21892" y="4473892"/>
            <a:ext cx="1187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第三轮 · 放大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3797" y="4847749"/>
            <a:ext cx="46273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扩容锦标赛 32,000 场对决 · 引入逐图动态门控（21参数）· 增设裸问投票校零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3797" y="5133499"/>
            <a:ext cx="62005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KonIQ SRCC 0.577→0.734 ｜ SPAQ 0.881→0.893 ｜跨模型迁移（32B W→8B, SRCC 0.776反超原主）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0"/>
            <a:ext cx="381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928073" y="6594634"/>
            <a:ext cx="31618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0808" y="426720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结论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22832" y="1249680"/>
            <a:ext cx="5132027" cy="3741134"/>
            <a:chOff x="1322832" y="1249680"/>
            <a:chExt cx="5132027" cy="3741134"/>
          </a:xfrm>
        </p:grpSpPr>
        <p:sp>
          <p:nvSpPr>
            <p:cNvPr id="6" name="TextBox 6"/>
            <p:cNvSpPr txBox="1"/>
            <p:nvPr/>
          </p:nvSpPr>
          <p:spPr>
            <a:xfrm>
              <a:off x="1322832" y="124968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285" y="13549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统一框架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0047" y="1609249"/>
              <a:ext cx="43041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两数据集 × 两模型规模，同一骨架，主干零训练，全程温度=0 缓存可复现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2832" y="2249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99285" y="2355056"/>
              <a:ext cx="1583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BT 锦标赛自监督门控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00047" y="2609374"/>
              <a:ext cx="4356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3.2 万场两两比较 → 21 参数可解释矩阵 → 有效 · 可迁移 · 跨模型反超原主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2832" y="334518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9285" y="3450431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三项核心发现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00047" y="3704749"/>
              <a:ext cx="43437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提示词约束的保序-校零分离 · 锚点的双重角色 · 检索式经验规则的零收益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2832" y="44405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9285" y="45458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锚相关性定律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0047" y="4800124"/>
              <a:ext cx="45548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三轮完整闭合：发现 → 验证 → 放大 — 预注册假设检验保证可归因性与可证伪性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0000">
              <a:schemeClr val="accent1"/>
            </a:gs>
            <a:gs pos="100000">
              <a:srgbClr val="21365A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0"/>
            <a:ext cx="381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928073" y="6594634"/>
            <a:ext cx="31618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898781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92398" y="2566035"/>
            <a:ext cx="46072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谢谢各位老师，请批评指正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3238500"/>
            <a:ext cx="3810000" cy="9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653420" y="3759518"/>
            <a:ext cx="28851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张丞 · 北京邮电大学 · 2026.07.29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0001" y="4284345"/>
            <a:ext cx="3791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98781"/>
                </a:solidFill>
                <a:latin typeface="+mn-lt"/>
                <a:ea typeface="+mn-ea"/>
                <a:cs typeface="+mn-cs"/>
              </a:rPr>
              <a:t>材料与代码见附件 · docs/findings.md（F-001~F-025 全部证据链）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1A1A1A"/>
      </a:dk1>
      <a:lt1>
        <a:srgbClr val="FFFFFF"/>
      </a:lt1>
      <a:dk2>
        <a:srgbClr val="1A1A1A"/>
      </a:dk2>
      <a:lt2>
        <a:srgbClr val="EEECE1"/>
      </a:lt2>
      <a:accent1>
        <a:srgbClr val="1B2A4A"/>
      </a:accent1>
      <a:accent2>
        <a:srgbClr val="C9A96E"/>
      </a:accent2>
      <a:accent3>
        <a:srgbClr val="C9A96E"/>
      </a:accent3>
      <a:accent4>
        <a:srgbClr val="1B2A4A"/>
      </a:accent4>
      <a:accent5>
        <a:srgbClr val="F5F5F5"/>
      </a:accent5>
      <a:accent6>
        <a:srgbClr val="F79646"/>
      </a:accent6>
      <a:hlink>
        <a:srgbClr val="C9A96E"/>
      </a:hlink>
      <a:folHlink>
        <a:srgbClr val="C9A96E"/>
      </a:folHlink>
    </a:clrScheme>
    <a:fontScheme name="Free Desig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2026-07-26T16:44:50Z</dcterms:created>
  <dcterms:modified xsi:type="dcterms:W3CDTF">2026-07-26T16:44:50Z</dcterms:modified>
  <cp:category/>
  <cp:contentStatus/>
</cp:coreProperties>
</file>